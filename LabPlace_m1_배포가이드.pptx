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/>
          <a:lstStyle/>
          <a:p>
            <a:pPr algn="ctr"/>
            <a:r>
              <a:rPr sz="1800" b="1">
                <a:solidFill>
                  <a:srgbClr val="111111"/>
                </a:solidFill>
                <a:latin typeface="Apple SD Gothic Neo"/>
              </a:rPr>
              <a:t>LabPlace m1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155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>
                <a:solidFill>
                  <a:srgbClr val="F5F5F7"/>
                </a:solidFill>
                <a:latin typeface="Apple SD Gothic Neo"/>
              </a:rPr>
              <a:t>실험실 배치 시뮬레이터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4EC9B0"/>
                </a:solidFill>
                <a:latin typeface="Apple SD Gothic Neo"/>
              </a:rPr>
              <a:t>모바일 최적화 테스트 &amp; App Store 배포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49039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A0A0A8"/>
                </a:solidFill>
                <a:latin typeface="Apple SD Gothic Neo"/>
              </a:rPr>
              <a:t>PC에서 완벽 테스트 → Capacitor로 iOS 앱 빌드 → App Store 배포까지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754880"/>
            <a:ext cx="5486400" cy="411480"/>
          </a:xfrm>
          <a:prstGeom prst="roundRect">
            <a:avLst>
              <a:gd name="adj" fmla="val 12000"/>
            </a:avLst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8280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0A8"/>
                </a:solidFill>
                <a:latin typeface="Apple SD Gothic Neo"/>
              </a:rPr>
              <a:t>📄 페이지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482803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F5F7"/>
                </a:solidFill>
                <a:latin typeface="Apple SD Gothic Neo"/>
              </a:rPr>
              <a:t>총 22장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754880"/>
            <a:ext cx="5486400" cy="411480"/>
          </a:xfrm>
          <a:prstGeom prst="roundRect">
            <a:avLst>
              <a:gd name="adj" fmla="val 12000"/>
            </a:avLst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48280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0A8"/>
                </a:solidFill>
                <a:latin typeface="Apple SD Gothic Neo"/>
              </a:rPr>
              <a:t>🎯 대상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482803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F5F7"/>
                </a:solidFill>
                <a:latin typeface="Apple SD Gothic Neo"/>
              </a:rPr>
              <a:t>m1.html 모바일 버전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257800"/>
            <a:ext cx="5486400" cy="411480"/>
          </a:xfrm>
          <a:prstGeom prst="roundRect">
            <a:avLst>
              <a:gd name="adj" fmla="val 12000"/>
            </a:avLst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3309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0A8"/>
                </a:solidFill>
                <a:latin typeface="Apple SD Gothic Neo"/>
              </a:rPr>
              <a:t>🛠 도구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53309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F5F7"/>
                </a:solidFill>
                <a:latin typeface="Apple SD Gothic Neo"/>
              </a:rPr>
              <a:t>Capacitor · Xcode · TestFlight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5257800"/>
            <a:ext cx="5486400" cy="411480"/>
          </a:xfrm>
          <a:prstGeom prst="roundRect">
            <a:avLst>
              <a:gd name="adj" fmla="val 12000"/>
            </a:avLst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53309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0A8"/>
                </a:solidFill>
                <a:latin typeface="Apple SD Gothic Neo"/>
              </a:rPr>
              <a:t>👤 작성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53309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F5F7"/>
                </a:solidFill>
                <a:latin typeface="Apple SD Gothic Neo"/>
              </a:rPr>
              <a:t>chihunlee@kims.re.kr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179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0A8"/>
                </a:solidFill>
                <a:latin typeface="Apple SD Gothic Neo"/>
              </a:rPr>
              <a:t>2026.04.12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Lab Placement m1 · 모바일 테스트 &amp; App Store 배포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731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A0A0A8"/>
                </a:solidFill>
                <a:latin typeface="Apple SD Gothic Neo"/>
              </a:rPr>
              <a:t>TOC  ·  2/22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F5F7"/>
                </a:solidFill>
                <a:latin typeface="Apple SD Gothic Neo"/>
              </a:rPr>
              <a:t>목차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EC9B0"/>
                </a:solidFill>
                <a:latin typeface="Apple SD Gothic Neo"/>
              </a:rPr>
              <a:t>Table of Contents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91440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111111"/>
                </a:solidFill>
                <a:latin typeface="Apple SD Gothic Ne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81051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5F7"/>
                </a:solidFill>
                <a:latin typeface="Apple SD Gothic Neo"/>
              </a:rPr>
              <a:t>PART 1. 프로젝트 구조 이해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03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폴더 구조와 파일 역할 · m1.html 모바일 최적화 요소 · PWA 구성 요소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19202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4EC9B0"/>
                </a:solidFill>
                <a:latin typeface="Apple SD Gothic Neo"/>
              </a:rPr>
              <a:t>p. 3-5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43200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111111"/>
                </a:solidFill>
                <a:latin typeface="Apple SD Gothic Ne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2491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5F7"/>
                </a:solidFill>
                <a:latin typeface="Apple SD Gothic Neo"/>
              </a:rPr>
              <a:t>PART 2. PC에서 테스트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017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로컬 서버 띄우기 · Chrome DevTools 모바일 에뮬레이션 · 실제 iPhone에서 테스트 (같은 Wi-Fi) · ngrok으로 외부 공유 테스트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28346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4EC9B0"/>
                </a:solidFill>
                <a:latin typeface="Apple SD Gothic Neo"/>
              </a:rPr>
              <a:t>p. 6-11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57600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111111"/>
                </a:solidFill>
                <a:latin typeface="Apple SD Gothic Ne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63931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5F7"/>
                </a:solidFill>
                <a:latin typeface="Apple SD Gothic Neo"/>
              </a:rPr>
              <a:t>PART 3. PWA 설치 테스트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931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iOS Safari: 홈 화면 추가 · Android Chrome: 설치 배너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37490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4EC9B0"/>
                </a:solidFill>
                <a:latin typeface="Apple SD Gothic Neo"/>
              </a:rPr>
              <a:t>p. 12-13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72000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111111"/>
                </a:solidFill>
                <a:latin typeface="Apple SD Gothic Neo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55371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5F7"/>
                </a:solidFill>
                <a:latin typeface="Apple SD Gothic Neo"/>
              </a:rPr>
              <a:t>PART 4. App Store 배포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846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Capacitor 설정 · Xcode 프로젝트 빌드 · TestFlight 베타 · App Store Connect 심사 제출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46634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4EC9B0"/>
                </a:solidFill>
                <a:latin typeface="Apple SD Gothic Neo"/>
              </a:rPr>
              <a:t>p. 14-20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86400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111111"/>
                </a:solidFill>
                <a:latin typeface="Apple SD Gothic Neo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46811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5F7"/>
                </a:solidFill>
                <a:latin typeface="Apple SD Gothic Neo"/>
              </a:rPr>
              <a:t>PART 5. 체크리스트 &amp; 문제해결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760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배포 전 체크리스트 · 자주 겪는 이슈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55778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4EC9B0"/>
                </a:solidFill>
                <a:latin typeface="Apple SD Gothic Neo"/>
              </a:rPr>
              <a:t>p. 21-22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Lab Placement m1 · 모바일 테스트 &amp; App Store 배포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731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A0A0A8"/>
                </a:solidFill>
                <a:latin typeface="Apple SD Gothic Neo"/>
              </a:rPr>
              <a:t>PART 1  ·  3/22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>
                <a:solidFill>
                  <a:srgbClr val="303038"/>
                </a:solidFill>
                <a:latin typeface="Apple SD Gothic Neo"/>
              </a:rPr>
              <a:t>PART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5F5F7"/>
                </a:solidFill>
                <a:latin typeface="Apple SD Gothic Neo"/>
              </a:rPr>
              <a:t>프로젝트 구조 이해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EC9B0"/>
                </a:solidFill>
                <a:latin typeface="Apple SD Gothic Neo"/>
              </a:rPr>
              <a:t>파일 구성 &amp; 모바일 UX 설계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394960"/>
            <a:ext cx="11155680" cy="7315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Lab Placement m1 · 모바일 테스트 &amp; App Store 배포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731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A0A0A8"/>
                </a:solidFill>
                <a:latin typeface="Apple SD Gothic Neo"/>
              </a:rPr>
              <a:t>PART 1  ·  4/22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F5F7"/>
                </a:solidFill>
                <a:latin typeface="Apple SD Gothic Neo"/>
              </a:rPr>
              <a:t>폴더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EC9B0"/>
                </a:solidFill>
                <a:latin typeface="Apple SD Gothic Neo"/>
              </a:rPr>
              <a:t>~/Code/equiment_placement/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91440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7772400" cy="4114800"/>
          </a:xfrm>
          <a:prstGeom prst="roundRect">
            <a:avLst>
              <a:gd name="adj" fmla="val 12000"/>
            </a:avLst>
          </a:prstGeom>
          <a:solidFill>
            <a:srgbClr val="101014"/>
          </a:solidFill>
          <a:ln w="12700">
            <a:solidFill>
              <a:srgbClr val="3A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80000" bIns="80000"/>
          <a:lstStyle/>
          <a:p>
            <a:pPr algn="ctr"/>
            <a:r>
              <a:rPr sz="1300">
                <a:solidFill>
                  <a:srgbClr val="F5F5F7"/>
                </a:solidFill>
                <a:latin typeface="Menlo"/>
              </a:rPr>
              <a:t>equiment_placement/</a:t>
            </a:r>
          </a:p>
          <a:p>
            <a:r>
              <a:rPr sz="1300">
                <a:solidFill>
                  <a:srgbClr val="F5F5F7"/>
                </a:solidFill>
                <a:latin typeface="Menlo"/>
              </a:rPr>
              <a:t>├── index.html          ← 기존 데스크톱 버전 (그대로 둠)</a:t>
            </a:r>
          </a:p>
          <a:p>
            <a:r>
              <a:rPr sz="1300">
                <a:solidFill>
                  <a:srgbClr val="F5F5F7"/>
                </a:solidFill>
                <a:latin typeface="Menlo"/>
              </a:rPr>
              <a:t>├── m1.html             ← 🆕 모바일 최적화 버전</a:t>
            </a:r>
          </a:p>
          <a:p>
            <a:r>
              <a:rPr sz="1300">
                <a:solidFill>
                  <a:srgbClr val="F5F5F7"/>
                </a:solidFill>
                <a:latin typeface="Menlo"/>
              </a:rPr>
              <a:t>├── manifest.json       ← 🆕 PWA 설정 (앱 이름/아이콘/테마)</a:t>
            </a:r>
          </a:p>
          <a:p>
            <a:r>
              <a:rPr sz="1300">
                <a:solidFill>
                  <a:srgbClr val="F5F5F7"/>
                </a:solidFill>
                <a:latin typeface="Menlo"/>
              </a:rPr>
              <a:t>├── sw.js               ← 🆕 Service Worker (오프라인 캐시)</a:t>
            </a:r>
          </a:p>
          <a:p>
            <a:r>
              <a:rPr sz="1300">
                <a:solidFill>
                  <a:srgbClr val="F5F5F7"/>
                </a:solidFill>
                <a:latin typeface="Menlo"/>
              </a:rPr>
              <a:t>├── icon-192.png        ← 🆕 아이콘 192×192</a:t>
            </a:r>
          </a:p>
          <a:p>
            <a:r>
              <a:rPr sz="1300">
                <a:solidFill>
                  <a:srgbClr val="F5F5F7"/>
                </a:solidFill>
                <a:latin typeface="Menlo"/>
              </a:rPr>
              <a:t>├── icon-512.png        ← 🆕 아이콘 512×512</a:t>
            </a:r>
          </a:p>
          <a:p>
            <a:r>
              <a:rPr sz="1300">
                <a:solidFill>
                  <a:srgbClr val="F5F5F7"/>
                </a:solidFill>
                <a:latin typeface="Menlo"/>
              </a:rPr>
              <a:t>└── CLAUDE.md           ← 프로젝트 컨텍스트</a:t>
            </a:r>
          </a:p>
          <a:p>
            <a:r>
              <a:rPr sz="1300">
                <a:solidFill>
                  <a:srgbClr val="F5F5F7"/>
                </a:solidFill>
                <a:latin typeface="Menlo"/>
              </a:rPr>
              <a:t/>
            </a:r>
          </a:p>
          <a:p>
            <a:r>
              <a:rPr sz="1300">
                <a:solidFill>
                  <a:srgbClr val="F5F5F7"/>
                </a:solidFill>
                <a:latin typeface="Menlo"/>
              </a:rPr>
              <a:t>GitHub Pages 배포 URL:</a:t>
            </a:r>
          </a:p>
          <a:p>
            <a:r>
              <a:rPr sz="1300">
                <a:solidFill>
                  <a:srgbClr val="F5F5F7"/>
                </a:solidFill>
                <a:latin typeface="Menlo"/>
              </a:rPr>
              <a:t>  · 데스크톱: https://chihun-lee.github.io/equipment-placement/</a:t>
            </a:r>
          </a:p>
          <a:p>
            <a:r>
              <a:rPr sz="1300">
                <a:solidFill>
                  <a:srgbClr val="F5F5F7"/>
                </a:solidFill>
                <a:latin typeface="Menlo"/>
              </a:rPr>
              <a:t>  · 모바일:   https://chihun-lee.github.io/equipment-placement/m1.html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920240"/>
            <a:ext cx="3108960" cy="4114800"/>
          </a:xfrm>
          <a:prstGeom prst="roundRect">
            <a:avLst>
              <a:gd name="adj" fmla="val 12000"/>
            </a:avLst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20574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EC9B0"/>
                </a:solidFill>
                <a:latin typeface="Apple SD Gothic Neo"/>
              </a:rPr>
              <a:t>핵심 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5603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Apple SD Gothic Neo"/>
              </a:rPr>
              <a:t>✓  단일 파일 구조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0175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Apple SD Gothic Neo"/>
              </a:rPr>
              <a:t>✓  빌드 도구 없음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4747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Apple SD Gothic Neo"/>
              </a:rPr>
              <a:t>✓  CDN Three.js 사용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9319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Apple SD Gothic Neo"/>
              </a:rPr>
              <a:t>✓  localStorage 자동저장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43891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Apple SD Gothic Neo"/>
              </a:rPr>
              <a:t>✓  PWA로 앱처럼 설치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Lab Placement m1 · 모바일 테스트 &amp; App Store 배포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731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A0A0A8"/>
                </a:solidFill>
                <a:latin typeface="Apple SD Gothic Neo"/>
              </a:rPr>
              <a:t>PART 1  ·  5/22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F5F7"/>
                </a:solidFill>
                <a:latin typeface="Apple SD Gothic Neo"/>
              </a:rPr>
              <a:t>m1.html 모바일 UX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EC9B0"/>
                </a:solidFill>
                <a:latin typeface="Apple SD Gothic Neo"/>
              </a:rPr>
              <a:t>데스크톱과 무엇이 다른가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91440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1155680" cy="384048"/>
          </a:xfrm>
          <a:prstGeom prst="rect">
            <a:avLst/>
          </a:prstGeom>
          <a:solidFill>
            <a:srgbClr val="26262A"/>
          </a:solidFill>
          <a:ln w="6350">
            <a:solidFill>
              <a:srgbClr val="3A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11096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EC9B0"/>
                </a:solidFill>
                <a:latin typeface="Apple SD Gothic Neo"/>
              </a:rPr>
              <a:t>영역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911096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EC9B0"/>
                </a:solidFill>
                <a:latin typeface="Apple SD Gothic Neo"/>
              </a:rPr>
              <a:t>데스크톱 (index.html)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911096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EC9B0"/>
                </a:solidFill>
                <a:latin typeface="Apple SD Gothic Neo"/>
              </a:rPr>
              <a:t>모바일 (m1.html)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212848"/>
            <a:ext cx="11155680" cy="384048"/>
          </a:xfrm>
          <a:prstGeom prst="rect">
            <a:avLst/>
          </a:prstGeom>
          <a:solidFill>
            <a:srgbClr val="202024"/>
          </a:solidFill>
          <a:ln w="6350">
            <a:solidFill>
              <a:srgbClr val="3A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295144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레이아웃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295144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350px 사이드바 + 뷰포트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295144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풀스크린 뷰포트 + 바텀 시트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96896"/>
            <a:ext cx="11155680" cy="384048"/>
          </a:xfrm>
          <a:prstGeom prst="rect">
            <a:avLst/>
          </a:prstGeom>
          <a:solidFill>
            <a:srgbClr val="1A1A1C"/>
          </a:solidFill>
          <a:ln w="6350">
            <a:solidFill>
              <a:srgbClr val="3A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67919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입력 방식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2679192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마우스 + 키보드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679192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터치 + 외장 키보드 옵션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980944"/>
            <a:ext cx="11155680" cy="384048"/>
          </a:xfrm>
          <a:prstGeom prst="rect">
            <a:avLst/>
          </a:prstGeom>
          <a:solidFill>
            <a:srgbClr val="202024"/>
          </a:solidFill>
          <a:ln w="6350">
            <a:solidFill>
              <a:srgbClr val="3A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06324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폰트 크기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3063240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11~13px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063240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14~16px (iOS 자동 줌 방지)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364992"/>
            <a:ext cx="11155680" cy="384048"/>
          </a:xfrm>
          <a:prstGeom prst="rect">
            <a:avLst/>
          </a:prstGeom>
          <a:solidFill>
            <a:srgbClr val="1A1A1C"/>
          </a:solidFill>
          <a:ln w="6350">
            <a:solidFill>
              <a:srgbClr val="3A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447288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최소 터치 영역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3447288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고려 안함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447288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44×44 px (Apple HIG)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749040"/>
            <a:ext cx="11155680" cy="384048"/>
          </a:xfrm>
          <a:prstGeom prst="rect">
            <a:avLst/>
          </a:prstGeom>
          <a:solidFill>
            <a:srgbClr val="202024"/>
          </a:solidFill>
          <a:ln w="6350">
            <a:solidFill>
              <a:srgbClr val="3A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831336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단축키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3831336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R/Del/Enter/Esc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831336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컨텍스트 바 버튼 + 외장키 대체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133088"/>
            <a:ext cx="11155680" cy="384048"/>
          </a:xfrm>
          <a:prstGeom prst="rect">
            <a:avLst/>
          </a:prstGeom>
          <a:solidFill>
            <a:srgbClr val="1A1A1C"/>
          </a:solidFill>
          <a:ln w="6350">
            <a:solidFill>
              <a:srgbClr val="3A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215384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되돌리기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14600" y="4215384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사이드바 버튼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215384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앱바 상시 버튼 + 비활성화 표시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517136"/>
            <a:ext cx="11155680" cy="384048"/>
          </a:xfrm>
          <a:prstGeom prst="rect">
            <a:avLst/>
          </a:prstGeom>
          <a:solidFill>
            <a:srgbClr val="202024"/>
          </a:solidFill>
          <a:ln w="6350">
            <a:solidFill>
              <a:srgbClr val="3A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59943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화면 전환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14600" y="4599432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사이드바 스크롤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4599432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바텀 시트 push/pop 스택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901184"/>
            <a:ext cx="11155680" cy="384048"/>
          </a:xfrm>
          <a:prstGeom prst="rect">
            <a:avLst/>
          </a:prstGeom>
          <a:solidFill>
            <a:srgbClr val="1A1A1C"/>
          </a:solidFill>
          <a:ln w="6350">
            <a:solidFill>
              <a:srgbClr val="3A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498348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뒤로가기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14600" y="4983480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없음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4983480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앱바 ← 버튼 + popstate 핸들러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285232"/>
            <a:ext cx="11155680" cy="384048"/>
          </a:xfrm>
          <a:prstGeom prst="rect">
            <a:avLst/>
          </a:prstGeom>
          <a:solidFill>
            <a:srgbClr val="202024"/>
          </a:solidFill>
          <a:ln w="6350">
            <a:solidFill>
              <a:srgbClr val="3A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5367528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선택 UI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14600" y="5367528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사이드바 편집 패널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5367528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상단 컨텍스트 바 (회전/복제/편집/삭제)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669280"/>
            <a:ext cx="11155680" cy="384048"/>
          </a:xfrm>
          <a:prstGeom prst="rect">
            <a:avLst/>
          </a:prstGeom>
          <a:solidFill>
            <a:srgbClr val="1A1A1C"/>
          </a:solidFill>
          <a:ln w="6350">
            <a:solidFill>
              <a:srgbClr val="3A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5751576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카메라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14600" y="5751576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사이드바 프리셋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5751576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앱바 📷 버튼 → 카메라 시트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6053328"/>
            <a:ext cx="11155680" cy="384048"/>
          </a:xfrm>
          <a:prstGeom prst="rect">
            <a:avLst/>
          </a:prstGeom>
          <a:solidFill>
            <a:srgbClr val="202024"/>
          </a:solidFill>
          <a:ln w="6350">
            <a:solidFill>
              <a:srgbClr val="3A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" y="6135624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설치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14600" y="6135624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N/A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03720" y="6135624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PWA manifest + 홈 화면 추가 프롬프트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Lab Placement m1 · 모바일 테스트 &amp; App Store 배포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731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A0A0A8"/>
                </a:solidFill>
                <a:latin typeface="Apple SD Gothic Neo"/>
              </a:rPr>
              <a:t>PART 2  ·  6/22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>
                <a:solidFill>
                  <a:srgbClr val="303038"/>
                </a:solidFill>
                <a:latin typeface="Apple SD Gothic Neo"/>
              </a:rPr>
              <a:t>PART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5F5F7"/>
                </a:solidFill>
                <a:latin typeface="Apple SD Gothic Neo"/>
              </a:rPr>
              <a:t>PC에서 테스트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EC9B0"/>
                </a:solidFill>
                <a:latin typeface="Apple SD Gothic Neo"/>
              </a:rPr>
              <a:t>Local Server · DevTools · Real Device · ngrok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394960"/>
            <a:ext cx="11155680" cy="7315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Lab Placement m1 · 모바일 테스트 &amp; App Store 배포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731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A0A0A8"/>
                </a:solidFill>
                <a:latin typeface="Apple SD Gothic Neo"/>
              </a:rPr>
              <a:t>PART 2  ·  7/22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F5F7"/>
                </a:solidFill>
                <a:latin typeface="Apple SD Gothic Neo"/>
              </a:rPr>
              <a:t>왜 로컬 서버가 필요한가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EC9B0"/>
                </a:solidFill>
                <a:latin typeface="Apple SD Gothic Neo"/>
              </a:rPr>
              <a:t>file:// 로는 안 되는 이유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91440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486400" cy="4389120"/>
          </a:xfrm>
          <a:prstGeom prst="roundRect">
            <a:avLst>
              <a:gd name="adj" fmla="val 12000"/>
            </a:avLst>
          </a:prstGeom>
          <a:solidFill>
            <a:srgbClr val="2A1E1E"/>
          </a:solidFill>
          <a:ln w="12700">
            <a:solidFill>
              <a:srgbClr val="FF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6B4A"/>
                </a:solidFill>
                <a:latin typeface="Apple SD Gothic Neo"/>
              </a:rPr>
              <a:t>❌ file:// 로 열면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Apple SD Gothic Neo"/>
              </a:rPr>
              <a:t>• ES modules (importmap) 동작 안 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Apple SD Gothic Neo"/>
              </a:rPr>
              <a:t>• Service Worker 등록 불가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Apple SD Gothic Neo"/>
              </a:rPr>
              <a:t>• manifest.json 로드 실패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Apple SD Gothic Neo"/>
              </a:rPr>
              <a:t>• CORS 정책으로 fetch 차단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Apple SD Gothic Neo"/>
              </a:rPr>
              <a:t>• 실제 모바일과 동작이 달라짐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828800"/>
            <a:ext cx="5486400" cy="4389120"/>
          </a:xfrm>
          <a:prstGeom prst="roundRect">
            <a:avLst>
              <a:gd name="adj" fmla="val 12000"/>
            </a:avLst>
          </a:prstGeom>
          <a:solidFill>
            <a:srgbClr val="1A2A26"/>
          </a:solidFill>
          <a:ln w="127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4EC9B0"/>
                </a:solidFill>
                <a:latin typeface="Apple SD Gothic Neo"/>
              </a:rPr>
              <a:t>✅ 로컬 HTTP 서버로 열기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Apple SD Gothic Neo"/>
              </a:rPr>
              <a:t>• Python 내장 서버 (가장 간단)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175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Apple SD Gothic Neo"/>
              </a:rPr>
              <a:t>• Node http-server (npm -g)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4747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Apple SD Gothic Neo"/>
              </a:rPr>
              <a:t>• VS Code Live Server 확장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9319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Apple SD Gothic Neo"/>
              </a:rPr>
              <a:t>• Bun serve · Caddy 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6634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0A8"/>
                </a:solidFill>
                <a:latin typeface="Apple SD Gothic Neo"/>
              </a:rPr>
              <a:t>👉 이 가이드는 Python 서버를 사용합니다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5029200"/>
            <a:ext cx="5120640" cy="1005840"/>
          </a:xfrm>
          <a:prstGeom prst="roundRect">
            <a:avLst>
              <a:gd name="adj" fmla="val 12000"/>
            </a:avLst>
          </a:prstGeom>
          <a:solidFill>
            <a:srgbClr val="101014"/>
          </a:solidFill>
          <a:ln w="12700">
            <a:solidFill>
              <a:srgbClr val="3A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80000" bIns="80000"/>
          <a:lstStyle/>
          <a:p>
            <a:pPr algn="ctr"/>
            <a:r>
              <a:rPr sz="1200">
                <a:solidFill>
                  <a:srgbClr val="4EC9B0"/>
                </a:solidFill>
                <a:latin typeface="Menlo"/>
              </a:rPr>
              <a:t>cd ~/Code/equiment_placement</a:t>
            </a:r>
          </a:p>
          <a:p>
            <a:r>
              <a:rPr sz="1200">
                <a:solidFill>
                  <a:srgbClr val="4EC9B0"/>
                </a:solidFill>
                <a:latin typeface="Menlo"/>
              </a:rPr>
              <a:t>python3 -m http.server 8000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Lab Placement m1 · 모바일 테스트 &amp; App Store 배포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731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A0A0A8"/>
                </a:solidFill>
                <a:latin typeface="Apple SD Gothic Neo"/>
              </a:rPr>
              <a:t>PART 2  ·  8/22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F5F7"/>
                </a:solidFill>
                <a:latin typeface="Apple SD Gothic Neo"/>
              </a:rPr>
              <a:t>로컬 서버 띄우기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EC9B0"/>
                </a:solidFill>
                <a:latin typeface="Apple SD Gothic Neo"/>
              </a:rPr>
              <a:t>3가지 옵션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91440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11155680" cy="1417320"/>
          </a:xfrm>
          <a:prstGeom prst="roundRect">
            <a:avLst>
              <a:gd name="adj" fmla="val 12000"/>
            </a:avLst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2103120"/>
            <a:ext cx="777240" cy="77724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111111"/>
                </a:solidFill>
                <a:latin typeface="Apple SD Gothic Neo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9280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5F7"/>
                </a:solidFill>
                <a:latin typeface="Apple SD Gothic Neo"/>
              </a:rPr>
              <a:t>Python 내장 서버 (추천)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240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macOS 기본 설치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920240"/>
            <a:ext cx="5303520" cy="1143000"/>
          </a:xfrm>
          <a:prstGeom prst="roundRect">
            <a:avLst>
              <a:gd name="adj" fmla="val 12000"/>
            </a:avLst>
          </a:prstGeom>
          <a:solidFill>
            <a:srgbClr val="101014"/>
          </a:solidFill>
          <a:ln w="12700">
            <a:solidFill>
              <a:srgbClr val="3A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80000" bIns="80000"/>
          <a:lstStyle/>
          <a:p>
            <a:pPr algn="ctr"/>
            <a:r>
              <a:rPr sz="1000">
                <a:solidFill>
                  <a:srgbClr val="4EC9B0"/>
                </a:solidFill>
                <a:latin typeface="Menlo"/>
              </a:rPr>
              <a:t>cd ~/Code/equiment_placement</a:t>
            </a:r>
          </a:p>
          <a:p>
            <a:r>
              <a:rPr sz="1000">
                <a:solidFill>
                  <a:srgbClr val="4EC9B0"/>
                </a:solidFill>
                <a:latin typeface="Menlo"/>
              </a:rPr>
              <a:t>python3 -m http.server 8000</a:t>
            </a:r>
          </a:p>
          <a:p>
            <a:r>
              <a:rPr sz="1000">
                <a:solidFill>
                  <a:srgbClr val="A0A0A8"/>
                </a:solidFill>
                <a:latin typeface="Menlo"/>
              </a:rPr>
              <a:t># → http://localhost:8000/m1.html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37560"/>
            <a:ext cx="11155680" cy="1417320"/>
          </a:xfrm>
          <a:prstGeom prst="roundRect">
            <a:avLst>
              <a:gd name="adj" fmla="val 12000"/>
            </a:avLst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3657600"/>
            <a:ext cx="777240" cy="77724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111111"/>
                </a:solidFill>
                <a:latin typeface="Apple SD Gothic Neo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44728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5F7"/>
                </a:solidFill>
                <a:latin typeface="Apple SD Gothic Neo"/>
              </a:rPr>
              <a:t>Node http-server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794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npm 글로벌 설치 필요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474720"/>
            <a:ext cx="5303520" cy="1143000"/>
          </a:xfrm>
          <a:prstGeom prst="roundRect">
            <a:avLst>
              <a:gd name="adj" fmla="val 12000"/>
            </a:avLst>
          </a:prstGeom>
          <a:solidFill>
            <a:srgbClr val="101014"/>
          </a:solidFill>
          <a:ln w="12700">
            <a:solidFill>
              <a:srgbClr val="3A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80000" bIns="80000"/>
          <a:lstStyle/>
          <a:p>
            <a:pPr algn="ctr"/>
            <a:r>
              <a:rPr sz="1000">
                <a:solidFill>
                  <a:srgbClr val="4EC9B0"/>
                </a:solidFill>
                <a:latin typeface="Menlo"/>
              </a:rPr>
              <a:t>npm install -g http-server</a:t>
            </a:r>
          </a:p>
          <a:p>
            <a:r>
              <a:rPr sz="1000">
                <a:solidFill>
                  <a:srgbClr val="4EC9B0"/>
                </a:solidFill>
                <a:latin typeface="Menlo"/>
              </a:rPr>
              <a:t>cd ~/Code/equiment_placement</a:t>
            </a:r>
          </a:p>
          <a:p>
            <a:r>
              <a:rPr sz="1000">
                <a:solidFill>
                  <a:srgbClr val="F5F5F7"/>
                </a:solidFill>
                <a:latin typeface="Menlo"/>
              </a:rPr>
              <a:t>http-server -p 8000</a:t>
            </a:r>
          </a:p>
          <a:p>
            <a:r>
              <a:rPr sz="1000">
                <a:solidFill>
                  <a:srgbClr val="A0A0A8"/>
                </a:solidFill>
                <a:latin typeface="Menlo"/>
              </a:rPr>
              <a:t># → http://localhost:8000/m1.html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92040"/>
            <a:ext cx="11155680" cy="1417320"/>
          </a:xfrm>
          <a:prstGeom prst="roundRect">
            <a:avLst>
              <a:gd name="adj" fmla="val 12000"/>
            </a:avLst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5212080"/>
            <a:ext cx="777240" cy="77724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111111"/>
                </a:solidFill>
                <a:latin typeface="Apple SD Gothic Neo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500176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5F7"/>
                </a:solidFill>
                <a:latin typeface="Apple SD Gothic Neo"/>
              </a:rPr>
              <a:t>VS Code Live 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349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VS Code 확장 (GUI)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5029200"/>
            <a:ext cx="5303520" cy="1143000"/>
          </a:xfrm>
          <a:prstGeom prst="roundRect">
            <a:avLst>
              <a:gd name="adj" fmla="val 12000"/>
            </a:avLst>
          </a:prstGeom>
          <a:solidFill>
            <a:srgbClr val="101014"/>
          </a:solidFill>
          <a:ln w="12700">
            <a:solidFill>
              <a:srgbClr val="3A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80000" bIns="80000"/>
          <a:lstStyle/>
          <a:p>
            <a:pPr algn="ctr"/>
            <a:r>
              <a:rPr sz="1000">
                <a:solidFill>
                  <a:srgbClr val="A0A0A8"/>
                </a:solidFill>
                <a:latin typeface="Menlo"/>
              </a:rPr>
              <a:t># 1) VS Code 확장에서 "Live Server" 설치</a:t>
            </a:r>
          </a:p>
          <a:p>
            <a:r>
              <a:rPr sz="1000">
                <a:solidFill>
                  <a:srgbClr val="A0A0A8"/>
                </a:solidFill>
                <a:latin typeface="Menlo"/>
              </a:rPr>
              <a:t># 2) m1.html 우클릭 → Open with Live Server</a:t>
            </a:r>
          </a:p>
          <a:p>
            <a:r>
              <a:rPr sz="1000">
                <a:solidFill>
                  <a:srgbClr val="A0A0A8"/>
                </a:solidFill>
                <a:latin typeface="Menlo"/>
              </a:rPr>
              <a:t># → 자동으로 브라우저 열림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Lab Placement m1 · 모바일 테스트 &amp; App Store 배포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731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A0A0A8"/>
                </a:solidFill>
                <a:latin typeface="Apple SD Gothic Neo"/>
              </a:rPr>
              <a:t>PART 2  ·  9/22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F5F7"/>
                </a:solidFill>
                <a:latin typeface="Apple SD Gothic Neo"/>
              </a:rPr>
              <a:t>Chrome DevTools 모바일 에뮬레이션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EC9B0"/>
                </a:solidFill>
                <a:latin typeface="Apple SD Gothic Neo"/>
              </a:rPr>
              <a:t>빠른 1차 테스트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91440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111111"/>
                </a:solidFill>
                <a:latin typeface="Apple SD Gothic Ne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8745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5F7"/>
                </a:solidFill>
                <a:latin typeface="Apple SD Gothic Neo"/>
              </a:rPr>
              <a:t>브라우저에서 접속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20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0A8"/>
                </a:solidFill>
                <a:latin typeface="Menlo"/>
              </a:rPr>
              <a:t>http://localhost:8000/m1.html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111111"/>
                </a:solidFill>
                <a:latin typeface="Apple SD Gothic Ne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5146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5F7"/>
                </a:solidFill>
                <a:latin typeface="Apple SD Gothic Neo"/>
              </a:rPr>
              <a:t>DevTools 열기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560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0A8"/>
                </a:solidFill>
                <a:latin typeface="Menlo"/>
              </a:rPr>
              <a:t>Cmd + Option + I (macOS)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111111"/>
                </a:solidFill>
                <a:latin typeface="Apple SD Gothic Ne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154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5F7"/>
                </a:solidFill>
                <a:latin typeface="Apple SD Gothic Neo"/>
              </a:rPr>
              <a:t>디바이스 툴바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2004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0A8"/>
                </a:solidFill>
                <a:latin typeface="Menlo"/>
              </a:rPr>
              <a:t>Cmd + Shift + M 또는 상단 📱 아이콘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794759"/>
            <a:ext cx="457200" cy="45720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111111"/>
                </a:solidFill>
                <a:latin typeface="Apple SD Gothic Ne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79475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5F7"/>
                </a:solidFill>
                <a:latin typeface="Apple SD Gothic Neo"/>
              </a:rPr>
              <a:t>디바이스 선택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840479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0A8"/>
                </a:solidFill>
                <a:latin typeface="Menlo"/>
              </a:rPr>
              <a:t>"iPhone 15 Pro", "Pixel 8" 등 프리셋 선택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111111"/>
                </a:solidFill>
                <a:latin typeface="Apple SD Gothic Ne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4348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5F7"/>
                </a:solidFill>
                <a:latin typeface="Apple SD Gothic Neo"/>
              </a:rPr>
              <a:t>DPR 조정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4805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0A8"/>
                </a:solidFill>
                <a:latin typeface="Menlo"/>
              </a:rPr>
              <a:t>상단 바에서 DPR, 네트워크, 터치 모드 설정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5074920"/>
            <a:ext cx="457200" cy="45720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111111"/>
                </a:solidFill>
                <a:latin typeface="Apple SD Gothic Ne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0749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5F7"/>
                </a:solidFill>
                <a:latin typeface="Apple SD Gothic Neo"/>
              </a:rPr>
              <a:t>회전 테스트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5120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0A8"/>
                </a:solidFill>
                <a:latin typeface="Menlo"/>
              </a:rPr>
              <a:t>상단 회전 아이콘으로 가로/세로 전환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852160"/>
            <a:ext cx="11155680" cy="640080"/>
          </a:xfrm>
          <a:prstGeom prst="roundRect">
            <a:avLst>
              <a:gd name="adj" fmla="val 12000"/>
            </a:avLst>
          </a:prstGeom>
          <a:solidFill>
            <a:srgbClr val="2A2414"/>
          </a:solidFill>
          <a:ln w="12700">
            <a:solidFill>
              <a:srgbClr val="FF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9893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⚠ 에뮬레이션은 레이아웃 확인용. 실제 터치 성능, 3D GPU 렌더링 속도는 반드시 실기기에서 검증하세요.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Lab Placement m1 · 모바일 테스트 &amp; App Store 배포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731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A0A0A8"/>
                </a:solidFill>
                <a:latin typeface="Apple SD Gothic Neo"/>
              </a:rPr>
              <a:t>PART 2  ·  10/22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F5F7"/>
                </a:solidFill>
                <a:latin typeface="Apple SD Gothic Neo"/>
              </a:rPr>
              <a:t>실제 iPhone에서 테스트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EC9B0"/>
                </a:solidFill>
                <a:latin typeface="Apple SD Gothic Neo"/>
              </a:rPr>
              <a:t>같은 Wi-Fi 네트워크 사용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91440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4EC9B0"/>
                </a:solidFill>
                <a:latin typeface="Apple SD Gothic Neo"/>
              </a:rPr>
              <a:t>단계별 절차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40280"/>
            <a:ext cx="5943600" cy="3108960"/>
          </a:xfrm>
          <a:prstGeom prst="roundRect">
            <a:avLst>
              <a:gd name="adj" fmla="val 12000"/>
            </a:avLst>
          </a:prstGeom>
          <a:solidFill>
            <a:srgbClr val="101014"/>
          </a:solidFill>
          <a:ln w="12700">
            <a:solidFill>
              <a:srgbClr val="3A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80000" bIns="80000"/>
          <a:lstStyle/>
          <a:p>
            <a:pPr algn="ctr"/>
            <a:r>
              <a:rPr sz="1100">
                <a:solidFill>
                  <a:srgbClr val="A0A0A8"/>
                </a:solidFill>
                <a:latin typeface="Menlo"/>
              </a:rPr>
              <a:t># 1) 맥북의 로컬 IP 확인</a:t>
            </a:r>
          </a:p>
          <a:p>
            <a:r>
              <a:rPr sz="1100">
                <a:solidFill>
                  <a:srgbClr val="F5F5F7"/>
                </a:solidFill>
                <a:latin typeface="Menlo"/>
              </a:rPr>
              <a:t>ifconfig | grep "inet " | grep -v 127.0.0.1</a:t>
            </a:r>
          </a:p>
          <a:p>
            <a:r>
              <a:rPr sz="1100">
                <a:solidFill>
                  <a:srgbClr val="A0A0A8"/>
                </a:solidFill>
                <a:latin typeface="Menlo"/>
              </a:rPr>
              <a:t># → inet 192.168.0.42 ... 이런 줄에서 IP 복사</a:t>
            </a:r>
          </a:p>
          <a:p>
            <a:r>
              <a:rPr sz="1100">
                <a:solidFill>
                  <a:srgbClr val="F5F5F7"/>
                </a:solidFill>
                <a:latin typeface="Menlo"/>
              </a:rPr>
              <a:t/>
            </a:r>
          </a:p>
          <a:p>
            <a:r>
              <a:rPr sz="1100">
                <a:solidFill>
                  <a:srgbClr val="A0A0A8"/>
                </a:solidFill>
                <a:latin typeface="Menlo"/>
              </a:rPr>
              <a:t># 2) 서버를 0.0.0.0 으로 띄움 (모든 인터페이스)</a:t>
            </a:r>
          </a:p>
          <a:p>
            <a:r>
              <a:rPr sz="1100">
                <a:solidFill>
                  <a:srgbClr val="4EC9B0"/>
                </a:solidFill>
                <a:latin typeface="Menlo"/>
              </a:rPr>
              <a:t>cd ~/Code/equiment_placement</a:t>
            </a:r>
          </a:p>
          <a:p>
            <a:r>
              <a:rPr sz="1100">
                <a:solidFill>
                  <a:srgbClr val="4EC9B0"/>
                </a:solidFill>
                <a:latin typeface="Menlo"/>
              </a:rPr>
              <a:t>python3 -m http.server 8000 --bind 0.0.0.0</a:t>
            </a:r>
          </a:p>
          <a:p>
            <a:r>
              <a:rPr sz="1100">
                <a:solidFill>
                  <a:srgbClr val="F5F5F7"/>
                </a:solidFill>
                <a:latin typeface="Menlo"/>
              </a:rPr>
              <a:t/>
            </a:r>
          </a:p>
          <a:p>
            <a:r>
              <a:rPr sz="1100">
                <a:solidFill>
                  <a:srgbClr val="A0A0A8"/>
                </a:solidFill>
                <a:latin typeface="Menlo"/>
              </a:rPr>
              <a:t># 3) 맥북 방화벽에서 해당 포트 허용</a:t>
            </a:r>
          </a:p>
          <a:p>
            <a:r>
              <a:rPr sz="1100">
                <a:solidFill>
                  <a:srgbClr val="A0A0A8"/>
                </a:solidFill>
                <a:latin typeface="Menlo"/>
              </a:rPr>
              <a:t>#    시스템 설정 → 네트워크 → 방화벽 → 옵션 → Python 허용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406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EC9B0"/>
                </a:solidFill>
                <a:latin typeface="Apple SD Gothic Neo"/>
              </a:rPr>
              <a:t>📱 iPhone Safari에서 접속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6072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5F7"/>
                </a:solidFill>
                <a:latin typeface="Menlo"/>
              </a:rPr>
              <a:t>http://192.168.0.42:8000/m1.html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8076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※ 맥북과 같은 Wi-Fi여야 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828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4EC9B0"/>
                </a:solidFill>
                <a:latin typeface="Apple SD Gothic Neo"/>
              </a:rPr>
              <a:t>Safari Web Inspector 연결</a:t>
            </a:r>
          </a:p>
        </p:txBody>
      </p:sp>
      <p:sp>
        <p:nvSpPr>
          <p:cNvPr id="15" name="Oval 14"/>
          <p:cNvSpPr/>
          <p:nvPr/>
        </p:nvSpPr>
        <p:spPr>
          <a:xfrm>
            <a:off x="6766560" y="2331720"/>
            <a:ext cx="365760" cy="365760"/>
          </a:xfrm>
          <a:prstGeom prst="ellipse">
            <a:avLst/>
          </a:prstGeom>
          <a:solidFill>
            <a:srgbClr val="26262A"/>
          </a:solidFill>
          <a:ln w="127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4EC9B0"/>
                </a:solidFill>
                <a:latin typeface="Apple SD Gothic Neo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35915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iPhone: 설정 → Safari → 고급 → 웹 속성 검사 ON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0" y="2834640"/>
            <a:ext cx="365760" cy="365760"/>
          </a:xfrm>
          <a:prstGeom prst="ellipse">
            <a:avLst/>
          </a:prstGeom>
          <a:solidFill>
            <a:srgbClr val="26262A"/>
          </a:solidFill>
          <a:ln w="127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4EC9B0"/>
                </a:solidFill>
                <a:latin typeface="Apple SD Gothic Neo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86207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Mac: Safari → 환경설정 → 고급 → "개발자용 메뉴 표시" ON</a:t>
            </a:r>
          </a:p>
        </p:txBody>
      </p:sp>
      <p:sp>
        <p:nvSpPr>
          <p:cNvPr id="19" name="Oval 18"/>
          <p:cNvSpPr/>
          <p:nvPr/>
        </p:nvSpPr>
        <p:spPr>
          <a:xfrm>
            <a:off x="6766560" y="3337560"/>
            <a:ext cx="365760" cy="365760"/>
          </a:xfrm>
          <a:prstGeom prst="ellipse">
            <a:avLst/>
          </a:prstGeom>
          <a:solidFill>
            <a:srgbClr val="26262A"/>
          </a:solidFill>
          <a:ln w="127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4EC9B0"/>
                </a:solidFill>
                <a:latin typeface="Apple SD Gothic Ne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36499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USB 케이블로 iPhone 연결 (Finder에서 신뢰 허용)</a:t>
            </a:r>
          </a:p>
        </p:txBody>
      </p:sp>
      <p:sp>
        <p:nvSpPr>
          <p:cNvPr id="21" name="Oval 20"/>
          <p:cNvSpPr/>
          <p:nvPr/>
        </p:nvSpPr>
        <p:spPr>
          <a:xfrm>
            <a:off x="6766560" y="3840480"/>
            <a:ext cx="365760" cy="365760"/>
          </a:xfrm>
          <a:prstGeom prst="ellipse">
            <a:avLst/>
          </a:prstGeom>
          <a:solidFill>
            <a:srgbClr val="26262A"/>
          </a:solidFill>
          <a:ln w="127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4EC9B0"/>
                </a:solidFill>
                <a:latin typeface="Apple SD Gothic Neo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86791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Mac Safari → 개발자 → [iPhone 이름] → m1.html 선택</a:t>
            </a:r>
          </a:p>
        </p:txBody>
      </p:sp>
      <p:sp>
        <p:nvSpPr>
          <p:cNvPr id="23" name="Oval 22"/>
          <p:cNvSpPr/>
          <p:nvPr/>
        </p:nvSpPr>
        <p:spPr>
          <a:xfrm>
            <a:off x="6766560" y="4343400"/>
            <a:ext cx="365760" cy="365760"/>
          </a:xfrm>
          <a:prstGeom prst="ellipse">
            <a:avLst/>
          </a:prstGeom>
          <a:solidFill>
            <a:srgbClr val="26262A"/>
          </a:solidFill>
          <a:ln w="127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4EC9B0"/>
                </a:solidFill>
                <a:latin typeface="Apple SD Gothic Ne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37083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JS 콘솔/네트워크/레이아웃 인스펙터를 iPhone 화면에 직접 연결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Lab Placement m1 · 모바일 테스트 &amp; App Store 배포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731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A0A0A8"/>
                </a:solidFill>
                <a:latin typeface="Apple SD Gothic Neo"/>
              </a:rPr>
              <a:t>PART 2  ·  11/22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F5F7"/>
                </a:solidFill>
                <a:latin typeface="Apple SD Gothic Neo"/>
              </a:rPr>
              <a:t>ngrok으로 외부 공유 테스트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EC9B0"/>
                </a:solidFill>
                <a:latin typeface="Apple SD Gothic Neo"/>
              </a:rPr>
              <a:t>다른 네트워크의 사용자도 테스트 가능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91440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0A0A8"/>
                </a:solidFill>
                <a:latin typeface="Apple SD Gothic Neo"/>
              </a:rPr>
              <a:t>왜 ngrok? → HTTPS가 필요한 PWA/Service Worker/카메라 API 테스트 + 외부 공유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86000"/>
            <a:ext cx="7772400" cy="4114800"/>
          </a:xfrm>
          <a:prstGeom prst="roundRect">
            <a:avLst>
              <a:gd name="adj" fmla="val 12000"/>
            </a:avLst>
          </a:prstGeom>
          <a:solidFill>
            <a:srgbClr val="101014"/>
          </a:solidFill>
          <a:ln w="12700">
            <a:solidFill>
              <a:srgbClr val="3A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80000" bIns="80000"/>
          <a:lstStyle/>
          <a:p>
            <a:pPr algn="ctr"/>
            <a:r>
              <a:rPr sz="1100">
                <a:solidFill>
                  <a:srgbClr val="A0A0A8"/>
                </a:solidFill>
                <a:latin typeface="Menlo"/>
              </a:rPr>
              <a:t># 1) ngrok 설치 (Homebrew)</a:t>
            </a:r>
          </a:p>
          <a:p>
            <a:r>
              <a:rPr sz="1100">
                <a:solidFill>
                  <a:srgbClr val="F5F5F7"/>
                </a:solidFill>
                <a:latin typeface="Menlo"/>
              </a:rPr>
              <a:t>brew install ngrok</a:t>
            </a:r>
          </a:p>
          <a:p>
            <a:r>
              <a:rPr sz="1100">
                <a:solidFill>
                  <a:srgbClr val="F5F5F7"/>
                </a:solidFill>
                <a:latin typeface="Menlo"/>
              </a:rPr>
              <a:t/>
            </a:r>
          </a:p>
          <a:p>
            <a:r>
              <a:rPr sz="1100">
                <a:solidFill>
                  <a:srgbClr val="A0A0A8"/>
                </a:solidFill>
                <a:latin typeface="Menlo"/>
              </a:rPr>
              <a:t># 2) 계정 가입 후 토큰 등록 (최초 1회)</a:t>
            </a:r>
          </a:p>
          <a:p>
            <a:r>
              <a:rPr sz="1100">
                <a:solidFill>
                  <a:srgbClr val="F5F5F7"/>
                </a:solidFill>
                <a:latin typeface="Menlo"/>
              </a:rPr>
              <a:t>ngrok config add-authtoken YOUR_TOKEN_HERE</a:t>
            </a:r>
          </a:p>
          <a:p>
            <a:r>
              <a:rPr sz="1100">
                <a:solidFill>
                  <a:srgbClr val="F5F5F7"/>
                </a:solidFill>
                <a:latin typeface="Menlo"/>
              </a:rPr>
              <a:t/>
            </a:r>
          </a:p>
          <a:p>
            <a:r>
              <a:rPr sz="1100">
                <a:solidFill>
                  <a:srgbClr val="A0A0A8"/>
                </a:solidFill>
                <a:latin typeface="Menlo"/>
              </a:rPr>
              <a:t># 3) 로컬 서버 실행</a:t>
            </a:r>
          </a:p>
          <a:p>
            <a:r>
              <a:rPr sz="1100">
                <a:solidFill>
                  <a:srgbClr val="4EC9B0"/>
                </a:solidFill>
                <a:latin typeface="Menlo"/>
              </a:rPr>
              <a:t>python3 -m http.server 8000</a:t>
            </a:r>
          </a:p>
          <a:p>
            <a:r>
              <a:rPr sz="1100">
                <a:solidFill>
                  <a:srgbClr val="F5F5F7"/>
                </a:solidFill>
                <a:latin typeface="Menlo"/>
              </a:rPr>
              <a:t/>
            </a:r>
          </a:p>
          <a:p>
            <a:r>
              <a:rPr sz="1100">
                <a:solidFill>
                  <a:srgbClr val="A0A0A8"/>
                </a:solidFill>
                <a:latin typeface="Menlo"/>
              </a:rPr>
              <a:t># 4) 별도 터미널에서 ngrok 실행</a:t>
            </a:r>
          </a:p>
          <a:p>
            <a:r>
              <a:rPr sz="1100">
                <a:solidFill>
                  <a:srgbClr val="F5F5F7"/>
                </a:solidFill>
                <a:latin typeface="Menlo"/>
              </a:rPr>
              <a:t>ngrok http 8000</a:t>
            </a:r>
          </a:p>
          <a:p>
            <a:r>
              <a:rPr sz="1100">
                <a:solidFill>
                  <a:srgbClr val="F5F5F7"/>
                </a:solidFill>
                <a:latin typeface="Menlo"/>
              </a:rPr>
              <a:t/>
            </a:r>
          </a:p>
          <a:p>
            <a:r>
              <a:rPr sz="1100">
                <a:solidFill>
                  <a:srgbClr val="A0A0A8"/>
                </a:solidFill>
                <a:latin typeface="Menlo"/>
              </a:rPr>
              <a:t># 출력 예:</a:t>
            </a:r>
          </a:p>
          <a:p>
            <a:r>
              <a:rPr sz="1100">
                <a:solidFill>
                  <a:srgbClr val="A0A0A8"/>
                </a:solidFill>
                <a:latin typeface="Menlo"/>
              </a:rPr>
              <a:t>#   Forwarding  https://abcd-1234.ngrok-free.app → http://localhost:8000</a:t>
            </a:r>
          </a:p>
          <a:p>
            <a:r>
              <a:rPr sz="1100">
                <a:solidFill>
                  <a:srgbClr val="A0A0A8"/>
                </a:solidFill>
                <a:latin typeface="Menlo"/>
              </a:rPr>
              <a:t>#</a:t>
            </a:r>
          </a:p>
          <a:p>
            <a:r>
              <a:rPr sz="1100">
                <a:solidFill>
                  <a:srgbClr val="A0A0A8"/>
                </a:solidFill>
                <a:latin typeface="Menlo"/>
              </a:rPr>
              <a:t># → iPhone Safari에서 https://abcd-1234.ngrok-free.app/m1.html 접속</a:t>
            </a:r>
          </a:p>
          <a:p>
            <a:r>
              <a:rPr sz="1100">
                <a:solidFill>
                  <a:srgbClr val="A0A0A8"/>
                </a:solidFill>
                <a:latin typeface="Menlo"/>
              </a:rPr>
              <a:t>#   HTTPS이므로 Service Worker, Clipboard, 카메라, 홈화면 추가 전부 동작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2286000"/>
            <a:ext cx="3108960" cy="4114800"/>
          </a:xfrm>
          <a:prstGeom prst="roundRect">
            <a:avLst>
              <a:gd name="adj" fmla="val 12000"/>
            </a:avLst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24231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EC9B0"/>
                </a:solidFill>
                <a:latin typeface="Apple SD Gothic Neo"/>
              </a:rPr>
              <a:t>장점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7432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+ HTTPS 자동 제공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06324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+ 외부에서 접속 가능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3832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+ PWA 전체 기능 테스트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703319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+ 방화벽 설정 불필요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41605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6B4A"/>
                </a:solidFill>
                <a:latin typeface="Apple SD Gothic Neo"/>
              </a:rPr>
              <a:t>단점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44805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- 무료는 URL 변경됨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48006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- 세션 2시간 제한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512064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- 느릴 수 있음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Lab Placement m1 · 모바일 테스트 &amp; App Store 배포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731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A0A0A8"/>
                </a:solidFill>
                <a:latin typeface="Apple SD Gothic Neo"/>
              </a:rPr>
              <a:t>PART 3  ·  12/22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>
                <a:solidFill>
                  <a:srgbClr val="303038"/>
                </a:solidFill>
                <a:latin typeface="Apple SD Gothic Neo"/>
              </a:rPr>
              <a:t>PART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5F5F7"/>
                </a:solidFill>
                <a:latin typeface="Apple SD Gothic Neo"/>
              </a:rPr>
              <a:t>PWA 설치 테스트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EC9B0"/>
                </a:solidFill>
                <a:latin typeface="Apple SD Gothic Neo"/>
              </a:rPr>
              <a:t>홈 화면에 추가하여 앱처럼 사용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394960"/>
            <a:ext cx="11155680" cy="7315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Lab Placement m1 · 모바일 테스트 &amp; App Store 배포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731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A0A0A8"/>
                </a:solidFill>
                <a:latin typeface="Apple SD Gothic Neo"/>
              </a:rPr>
              <a:t>PART 3  ·  13/22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F5F7"/>
                </a:solidFill>
                <a:latin typeface="Apple SD Gothic Neo"/>
              </a:rPr>
              <a:t>iOS / Android 설치 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EC9B0"/>
                </a:solidFill>
                <a:latin typeface="Apple SD Gothic Neo"/>
              </a:rPr>
              <a:t>App Store 없이도 앱처럼 쓸 수 있음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91440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486400" cy="4572000"/>
          </a:xfrm>
          <a:prstGeom prst="roundRect">
            <a:avLst>
              <a:gd name="adj" fmla="val 12000"/>
            </a:avLst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5F5F7"/>
                </a:solidFill>
                <a:latin typeface="Apple SD Gothic Neo"/>
              </a:rPr>
              <a:t>🍎 iOS Safari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※ Chrome 아님, 반드시 Safari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EC9B0"/>
                </a:solidFill>
                <a:latin typeface="Apple SD Gothic Neo"/>
              </a:rPr>
              <a:t>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6974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Apple SD Gothic Neo"/>
              </a:rPr>
              <a:t>Safari에서 배포 URL 열기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461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EC9B0"/>
                </a:solidFill>
                <a:latin typeface="Apple SD Gothic Neo"/>
              </a:rPr>
              <a:t>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2461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Apple SD Gothic Neo"/>
              </a:rPr>
              <a:t>하단 공유 버튼 ⎋ 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EC9B0"/>
                </a:solidFill>
                <a:latin typeface="Apple SD Gothic Neo"/>
              </a:rPr>
              <a:t>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7947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Apple SD Gothic Neo"/>
              </a:rPr>
              <a:t>"홈 화면에 추가" 선택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434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EC9B0"/>
                </a:solidFill>
                <a:latin typeface="Apple SD Gothic Neo"/>
              </a:rPr>
              <a:t>4.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3434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Apple SD Gothic Neo"/>
              </a:rPr>
              <a:t>이름 확인 → "추가"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920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EC9B0"/>
                </a:solidFill>
                <a:latin typeface="Apple SD Gothic Neo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8920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Apple SD Gothic Neo"/>
              </a:rPr>
              <a:t>홈화면에 아이콘 생성됨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406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EC9B0"/>
                </a:solidFill>
                <a:latin typeface="Apple SD Gothic Neo"/>
              </a:rPr>
              <a:t>6.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440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Apple SD Gothic Neo"/>
              </a:rPr>
              <a:t>탭하면 풀스크린 앱처럼 실행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828800"/>
            <a:ext cx="5486400" cy="4572000"/>
          </a:xfrm>
          <a:prstGeom prst="roundRect">
            <a:avLst>
              <a:gd name="adj" fmla="val 12000"/>
            </a:avLst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9659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5F5F7"/>
                </a:solidFill>
                <a:latin typeface="Apple SD Gothic Neo"/>
              </a:rPr>
              <a:t>🤖 Android Chrome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2860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자동 설치 배너 표시됨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6974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EC9B0"/>
                </a:solidFill>
                <a:latin typeface="Apple SD Gothic Neo"/>
              </a:rPr>
              <a:t>1.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26974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Apple SD Gothic Neo"/>
              </a:rPr>
              <a:t>Chrome에서 배포 URL 열기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2461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EC9B0"/>
                </a:solidFill>
                <a:latin typeface="Apple SD Gothic Neo"/>
              </a:rPr>
              <a:t>2.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32461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Apple SD Gothic Neo"/>
              </a:rPr>
              <a:t>하단 "홈 화면에 추가" 배너 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7947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EC9B0"/>
                </a:solidFill>
                <a:latin typeface="Apple SD Gothic Neo"/>
              </a:rPr>
              <a:t>3.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37947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Apple SD Gothic Neo"/>
              </a:rPr>
              <a:t>또는 우상단 ⋮ → "앱 설치"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3434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EC9B0"/>
                </a:solidFill>
                <a:latin typeface="Apple SD Gothic Neo"/>
              </a:rPr>
              <a:t>4.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3434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Apple SD Gothic Neo"/>
              </a:rPr>
              <a:t>"설치" 클릭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8920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EC9B0"/>
                </a:solidFill>
                <a:latin typeface="Apple SD Gothic Neo"/>
              </a:rPr>
              <a:t>5.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48920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Apple SD Gothic Neo"/>
              </a:rPr>
              <a:t>앱 서랍에 아이콘 생성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4406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EC9B0"/>
                </a:solidFill>
                <a:latin typeface="Apple SD Gothic Neo"/>
              </a:rPr>
              <a:t>6.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440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Apple SD Gothic Neo"/>
              </a:rPr>
              <a:t>주소창 없는 풀스크린 모드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0A8"/>
                </a:solidFill>
                <a:latin typeface="Apple SD Gothic Neo"/>
              </a:rPr>
              <a:t>💡 PWA로도 충분하다면 App Store 배포를 건너뛸 수 있습니다. 진짜 앱 배포가 필요한 이유가 있을 때만 PART 4로.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Lab Placement m1 · 모바일 테스트 &amp; App Store 배포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731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A0A0A8"/>
                </a:solidFill>
                <a:latin typeface="Apple SD Gothic Neo"/>
              </a:rPr>
              <a:t>PART 4  ·  14/22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>
                <a:solidFill>
                  <a:srgbClr val="303038"/>
                </a:solidFill>
                <a:latin typeface="Apple SD Gothic Neo"/>
              </a:rPr>
              <a:t>PART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5F5F7"/>
                </a:solidFill>
                <a:latin typeface="Apple SD Gothic Neo"/>
              </a:rPr>
              <a:t>App Store 배포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EC9B0"/>
                </a:solidFill>
                <a:latin typeface="Apple SD Gothic Neo"/>
              </a:rPr>
              <a:t>Capacitor → Xcode → TestFlight → App Store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394960"/>
            <a:ext cx="11155680" cy="7315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Lab Placement m1 · 모바일 테스트 &amp; App Store 배포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731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A0A0A8"/>
                </a:solidFill>
                <a:latin typeface="Apple SD Gothic Neo"/>
              </a:rPr>
              <a:t>PART 4  ·  15/22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F5F7"/>
                </a:solidFill>
                <a:latin typeface="Apple SD Gothic Neo"/>
              </a:rPr>
              <a:t>왜 Capacitor인가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EC9B0"/>
                </a:solidFill>
                <a:latin typeface="Apple SD Gothic Neo"/>
              </a:rPr>
              <a:t>웹뷰 기반 네이티브 래퍼 비교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91440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3749039" cy="4480560"/>
          </a:xfrm>
          <a:prstGeom prst="roundRect">
            <a:avLst>
              <a:gd name="adj" fmla="val 12000"/>
            </a:avLst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3749039" cy="109728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F5F7"/>
                </a:solidFill>
                <a:latin typeface="Apple SD Gothic Neo"/>
              </a:rPr>
              <a:t>Capacitor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103120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1100" b="1">
                <a:solidFill>
                  <a:srgbClr val="111111"/>
                </a:solidFill>
                <a:latin typeface="Apple SD Gothic Neo"/>
              </a:rPr>
              <a:t>추천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974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✓ Ionic 팀 최신 유지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✓ Xcode/Gradle 직접 제어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290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✓ 플러그인 생태계 풍부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947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✓ 문서화 우수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97680"/>
            <a:ext cx="3383280" cy="1828800"/>
          </a:xfrm>
          <a:prstGeom prst="roundRect">
            <a:avLst>
              <a:gd name="adj" fmla="val 12000"/>
            </a:avLst>
          </a:prstGeom>
          <a:solidFill>
            <a:srgbClr val="101014"/>
          </a:solidFill>
          <a:ln w="12700">
            <a:solidFill>
              <a:srgbClr val="3A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80000" bIns="80000"/>
          <a:lstStyle/>
          <a:p>
            <a:pPr algn="ctr"/>
            <a:r>
              <a:rPr sz="1000">
                <a:solidFill>
                  <a:srgbClr val="4EC9B0"/>
                </a:solidFill>
                <a:latin typeface="Menlo"/>
              </a:rPr>
              <a:t>npm i @capacitor/core</a:t>
            </a:r>
          </a:p>
          <a:p>
            <a:r>
              <a:rPr sz="1000">
                <a:solidFill>
                  <a:srgbClr val="4EC9B0"/>
                </a:solidFill>
                <a:latin typeface="Menlo"/>
              </a:rPr>
              <a:t>npx cap add ios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828800"/>
            <a:ext cx="3749039" cy="4480560"/>
          </a:xfrm>
          <a:prstGeom prst="roundRect">
            <a:avLst>
              <a:gd name="adj" fmla="val 12000"/>
            </a:avLst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1828800"/>
            <a:ext cx="3749039" cy="10972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20574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F5F7"/>
                </a:solidFill>
                <a:latin typeface="Apple SD Gothic Neo"/>
              </a:rPr>
              <a:t>Cordova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2103120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1100" b="1">
                <a:solidFill>
                  <a:srgbClr val="111111"/>
                </a:solidFill>
                <a:latin typeface="Apple SD Gothic Neo"/>
              </a:rPr>
              <a:t>레거시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6974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✓ 오래된 방식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0632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✓ 플러그인 호환성 이슈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4290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✓ 신규 프로젝트 권장 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4297680"/>
            <a:ext cx="3383280" cy="1828800"/>
          </a:xfrm>
          <a:prstGeom prst="roundRect">
            <a:avLst>
              <a:gd name="adj" fmla="val 12000"/>
            </a:avLst>
          </a:prstGeom>
          <a:solidFill>
            <a:srgbClr val="101014"/>
          </a:solidFill>
          <a:ln w="12700">
            <a:solidFill>
              <a:srgbClr val="3A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80000" bIns="80000"/>
          <a:lstStyle/>
          <a:p>
            <a:pPr algn="ctr"/>
            <a:r>
              <a:rPr sz="1000">
                <a:solidFill>
                  <a:srgbClr val="A0A0A8"/>
                </a:solidFill>
                <a:latin typeface="Menlo"/>
              </a:rPr>
              <a:t># 권장하지 않음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1828800"/>
            <a:ext cx="3749039" cy="4480560"/>
          </a:xfrm>
          <a:prstGeom prst="roundRect">
            <a:avLst>
              <a:gd name="adj" fmla="val 12000"/>
            </a:avLst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828800"/>
            <a:ext cx="3749039" cy="109728"/>
          </a:xfrm>
          <a:prstGeom prst="rect">
            <a:avLst/>
          </a:prstGeom>
          <a:solidFill>
            <a:srgbClr val="FF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20574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F5F7"/>
                </a:solidFill>
                <a:latin typeface="Apple SD Gothic Neo"/>
              </a:rPr>
              <a:t>WKWebView 직접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0" y="2103120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FF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1100" b="1">
                <a:solidFill>
                  <a:srgbClr val="111111"/>
                </a:solidFill>
                <a:latin typeface="Apple SD Gothic Neo"/>
              </a:rPr>
              <a:t>고급자용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26974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✓ Swift 코드 직접 작성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30632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✓ 빌드 파이프라인 수동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34290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✓ 자유도 최고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37947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✓ 학습 곡선 급함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49640" y="4297680"/>
            <a:ext cx="3383280" cy="1828800"/>
          </a:xfrm>
          <a:prstGeom prst="roundRect">
            <a:avLst>
              <a:gd name="adj" fmla="val 12000"/>
            </a:avLst>
          </a:prstGeom>
          <a:solidFill>
            <a:srgbClr val="101014"/>
          </a:solidFill>
          <a:ln w="12700">
            <a:solidFill>
              <a:srgbClr val="3A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80000" bIns="80000"/>
          <a:lstStyle/>
          <a:p>
            <a:pPr algn="ctr"/>
            <a:r>
              <a:rPr sz="1000">
                <a:solidFill>
                  <a:srgbClr val="A0A0A8"/>
                </a:solidFill>
                <a:latin typeface="Menlo"/>
              </a:rPr>
              <a:t>// Xcode에서 iOS 앱 생성 후</a:t>
            </a:r>
          </a:p>
          <a:p>
            <a:r>
              <a:rPr sz="1000">
                <a:solidFill>
                  <a:srgbClr val="A0A0A8"/>
                </a:solidFill>
                <a:latin typeface="Menlo"/>
              </a:rPr>
              <a:t>// WKWebView로 m1.html 로드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9224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EC9B0"/>
                </a:solidFill>
                <a:latin typeface="Apple SD Gothic Neo"/>
              </a:rPr>
              <a:t>👉 이 가이드는 Capacitor로 진행합니다. m1.html의 코드 변경 없이 iOS/Android 네이티브 래퍼 생성 가능.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Lab Placement m1 · 모바일 테스트 &amp; App Store 배포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731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A0A0A8"/>
                </a:solidFill>
                <a:latin typeface="Apple SD Gothic Neo"/>
              </a:rPr>
              <a:t>PART 4  ·  16/22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F5F7"/>
                </a:solidFill>
                <a:latin typeface="Apple SD Gothic Neo"/>
              </a:rPr>
              <a:t>Capacitor 프로젝트 설정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EC9B0"/>
                </a:solidFill>
                <a:latin typeface="Apple SD Gothic Neo"/>
              </a:rPr>
              <a:t>새 폴더에서 시작 (원본 건드리지 않음)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91440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7772400" cy="4754880"/>
          </a:xfrm>
          <a:prstGeom prst="roundRect">
            <a:avLst>
              <a:gd name="adj" fmla="val 12000"/>
            </a:avLst>
          </a:prstGeom>
          <a:solidFill>
            <a:srgbClr val="101014"/>
          </a:solidFill>
          <a:ln w="12700">
            <a:solidFill>
              <a:srgbClr val="3A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80000" bIns="80000"/>
          <a:lstStyle/>
          <a:p>
            <a:pPr algn="ctr"/>
            <a:r>
              <a:rPr sz="1100">
                <a:solidFill>
                  <a:srgbClr val="A0A0A8"/>
                </a:solidFill>
                <a:latin typeface="Menlo"/>
              </a:rPr>
              <a:t># 1) 새 폴더 만들고 Node 프로젝트 초기화</a:t>
            </a:r>
          </a:p>
          <a:p>
            <a:r>
              <a:rPr sz="1100">
                <a:solidFill>
                  <a:srgbClr val="F5F5F7"/>
                </a:solidFill>
                <a:latin typeface="Menlo"/>
              </a:rPr>
              <a:t>mkdir -p ~/Code/equiment_placement_ios</a:t>
            </a:r>
          </a:p>
          <a:p>
            <a:r>
              <a:rPr sz="1100">
                <a:solidFill>
                  <a:srgbClr val="4EC9B0"/>
                </a:solidFill>
                <a:latin typeface="Menlo"/>
              </a:rPr>
              <a:t>cd ~/Code/equiment_placement_ios</a:t>
            </a:r>
          </a:p>
          <a:p>
            <a:r>
              <a:rPr sz="1100">
                <a:solidFill>
                  <a:srgbClr val="4EC9B0"/>
                </a:solidFill>
                <a:latin typeface="Menlo"/>
              </a:rPr>
              <a:t>npm init -y</a:t>
            </a:r>
          </a:p>
          <a:p>
            <a:r>
              <a:rPr sz="1100">
                <a:solidFill>
                  <a:srgbClr val="F5F5F7"/>
                </a:solidFill>
                <a:latin typeface="Menlo"/>
              </a:rPr>
              <a:t/>
            </a:r>
          </a:p>
          <a:p>
            <a:r>
              <a:rPr sz="1100">
                <a:solidFill>
                  <a:srgbClr val="A0A0A8"/>
                </a:solidFill>
                <a:latin typeface="Menlo"/>
              </a:rPr>
              <a:t># 2) Capacitor 설치</a:t>
            </a:r>
          </a:p>
          <a:p>
            <a:r>
              <a:rPr sz="1100">
                <a:solidFill>
                  <a:srgbClr val="4EC9B0"/>
                </a:solidFill>
                <a:latin typeface="Menlo"/>
              </a:rPr>
              <a:t>npm install @capacitor/core @capacitor/cli</a:t>
            </a:r>
          </a:p>
          <a:p>
            <a:r>
              <a:rPr sz="1100">
                <a:solidFill>
                  <a:srgbClr val="4EC9B0"/>
                </a:solidFill>
                <a:latin typeface="Menlo"/>
              </a:rPr>
              <a:t>npm install @capacitor/ios</a:t>
            </a:r>
          </a:p>
          <a:p>
            <a:r>
              <a:rPr sz="1100">
                <a:solidFill>
                  <a:srgbClr val="F5F5F7"/>
                </a:solidFill>
                <a:latin typeface="Menlo"/>
              </a:rPr>
              <a:t/>
            </a:r>
          </a:p>
          <a:p>
            <a:r>
              <a:rPr sz="1100">
                <a:solidFill>
                  <a:srgbClr val="A0A0A8"/>
                </a:solidFill>
                <a:latin typeface="Menlo"/>
              </a:rPr>
              <a:t># 3) www 폴더에 m1.html + 에셋 복사</a:t>
            </a:r>
          </a:p>
          <a:p>
            <a:r>
              <a:rPr sz="1100">
                <a:solidFill>
                  <a:srgbClr val="F5F5F7"/>
                </a:solidFill>
                <a:latin typeface="Menlo"/>
              </a:rPr>
              <a:t>mkdir www</a:t>
            </a:r>
          </a:p>
          <a:p>
            <a:r>
              <a:rPr sz="1100">
                <a:solidFill>
                  <a:srgbClr val="F5F5F7"/>
                </a:solidFill>
                <a:latin typeface="Menlo"/>
              </a:rPr>
              <a:t>cp ~/Code/equiment_placement/m1.html www/index.html</a:t>
            </a:r>
          </a:p>
          <a:p>
            <a:r>
              <a:rPr sz="1100">
                <a:solidFill>
                  <a:srgbClr val="F5F5F7"/>
                </a:solidFill>
                <a:latin typeface="Menlo"/>
              </a:rPr>
              <a:t>cp ~/Code/equiment_placement/manifest.json www/</a:t>
            </a:r>
          </a:p>
          <a:p>
            <a:r>
              <a:rPr sz="1100">
                <a:solidFill>
                  <a:srgbClr val="F5F5F7"/>
                </a:solidFill>
                <a:latin typeface="Menlo"/>
              </a:rPr>
              <a:t>cp ~/Code/equiment_placement/sw.js www/</a:t>
            </a:r>
          </a:p>
          <a:p>
            <a:r>
              <a:rPr sz="1100">
                <a:solidFill>
                  <a:srgbClr val="F5F5F7"/>
                </a:solidFill>
                <a:latin typeface="Menlo"/>
              </a:rPr>
              <a:t>cp ~/Code/equiment_placement/icon-*.png www/</a:t>
            </a:r>
          </a:p>
          <a:p>
            <a:r>
              <a:rPr sz="1100">
                <a:solidFill>
                  <a:srgbClr val="F5F5F7"/>
                </a:solidFill>
                <a:latin typeface="Menlo"/>
              </a:rPr>
              <a:t/>
            </a:r>
          </a:p>
          <a:p>
            <a:r>
              <a:rPr sz="1100">
                <a:solidFill>
                  <a:srgbClr val="A0A0A8"/>
                </a:solidFill>
                <a:latin typeface="Menlo"/>
              </a:rPr>
              <a:t># 4) Capacitor 초기화</a:t>
            </a:r>
          </a:p>
          <a:p>
            <a:r>
              <a:rPr sz="1100">
                <a:solidFill>
                  <a:srgbClr val="4EC9B0"/>
                </a:solidFill>
                <a:latin typeface="Menlo"/>
              </a:rPr>
              <a:t>npx cap init "LabPlace" "re.kims.labplace" --web-dir=www</a:t>
            </a:r>
          </a:p>
          <a:p>
            <a:r>
              <a:rPr sz="1100">
                <a:solidFill>
                  <a:srgbClr val="F5F5F7"/>
                </a:solidFill>
                <a:latin typeface="Menlo"/>
              </a:rPr>
              <a:t/>
            </a:r>
          </a:p>
          <a:p>
            <a:r>
              <a:rPr sz="1100">
                <a:solidFill>
                  <a:srgbClr val="A0A0A8"/>
                </a:solidFill>
                <a:latin typeface="Menlo"/>
              </a:rPr>
              <a:t># 5) iOS 플랫폼 추가</a:t>
            </a:r>
          </a:p>
          <a:p>
            <a:r>
              <a:rPr sz="1100">
                <a:solidFill>
                  <a:srgbClr val="4EC9B0"/>
                </a:solidFill>
                <a:latin typeface="Menlo"/>
              </a:rPr>
              <a:t>npx cap add ios</a:t>
            </a:r>
          </a:p>
          <a:p>
            <a:r>
              <a:rPr sz="1100">
                <a:solidFill>
                  <a:srgbClr val="F5F5F7"/>
                </a:solidFill>
                <a:latin typeface="Menlo"/>
              </a:rPr>
              <a:t/>
            </a:r>
          </a:p>
          <a:p>
            <a:r>
              <a:rPr sz="1100">
                <a:solidFill>
                  <a:srgbClr val="A0A0A8"/>
                </a:solidFill>
                <a:latin typeface="Menlo"/>
              </a:rPr>
              <a:t># 6) 웹 코드 동기화 (수정 후 매번 실행)</a:t>
            </a:r>
          </a:p>
          <a:p>
            <a:r>
              <a:rPr sz="1100">
                <a:solidFill>
                  <a:srgbClr val="4EC9B0"/>
                </a:solidFill>
                <a:latin typeface="Menlo"/>
              </a:rPr>
              <a:t>npx cap sync ios</a:t>
            </a:r>
          </a:p>
          <a:p>
            <a:r>
              <a:rPr sz="1100">
                <a:solidFill>
                  <a:srgbClr val="F5F5F7"/>
                </a:solidFill>
                <a:latin typeface="Menlo"/>
              </a:rPr>
              <a:t/>
            </a:r>
          </a:p>
          <a:p>
            <a:r>
              <a:rPr sz="1100">
                <a:solidFill>
                  <a:srgbClr val="A0A0A8"/>
                </a:solidFill>
                <a:latin typeface="Menlo"/>
              </a:rPr>
              <a:t># 7) Xcode로 열기</a:t>
            </a:r>
          </a:p>
          <a:p>
            <a:r>
              <a:rPr sz="1100">
                <a:solidFill>
                  <a:srgbClr val="4EC9B0"/>
                </a:solidFill>
                <a:latin typeface="Menlo"/>
              </a:rPr>
              <a:t>npx cap open 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828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EC9B0"/>
                </a:solidFill>
                <a:latin typeface="Apple SD Gothic Neo"/>
              </a:rPr>
              <a:t>📌 핵심 파라미터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331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App 이름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23317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F5F7"/>
                </a:solidFill>
                <a:latin typeface="Menlo"/>
              </a:rPr>
              <a:t>LabPlace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7432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Bundle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7432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F5F7"/>
                </a:solidFill>
                <a:latin typeface="Menlo"/>
              </a:rPr>
              <a:t>re.kims.labplace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154679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웹 디렉토리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154679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F5F7"/>
                </a:solidFill>
                <a:latin typeface="Menlo"/>
              </a:rPr>
              <a:t>www/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5661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진입 파일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35661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F5F7"/>
                </a:solidFill>
                <a:latin typeface="Menlo"/>
              </a:rPr>
              <a:t>index.html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977639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플랫폼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3977639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F5F7"/>
                </a:solidFill>
                <a:latin typeface="Menlo"/>
              </a:rPr>
              <a:t>ios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95360" y="4572000"/>
            <a:ext cx="3108960" cy="2011680"/>
          </a:xfrm>
          <a:prstGeom prst="roundRect">
            <a:avLst>
              <a:gd name="adj" fmla="val 12000"/>
            </a:avLst>
          </a:prstGeom>
          <a:solidFill>
            <a:srgbClr val="1A2A2E"/>
          </a:solidFill>
          <a:ln w="127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46634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EC9B0"/>
                </a:solidFill>
                <a:latin typeface="Apple SD Gothic Neo"/>
              </a:rPr>
              <a:t>💡 Bundle 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4983480"/>
            <a:ext cx="29260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역도메인 형식.</a:t>
            </a:r>
          </a:p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앱스토어에서 고유해야 함.</a:t>
            </a:r>
          </a:p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한번 등록하면 변경 불가.</a:t>
            </a:r>
          </a:p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소속 도메인 있으면 그것 추천.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Lab Placement m1 · 모바일 테스트 &amp; App Store 배포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731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A0A0A8"/>
                </a:solidFill>
                <a:latin typeface="Apple SD Gothic Neo"/>
              </a:rPr>
              <a:t>PART 4  ·  17/22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F5F7"/>
                </a:solidFill>
                <a:latin typeface="Apple SD Gothic Neo"/>
              </a:rPr>
              <a:t>Xcode에서 빌드 &amp;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EC9B0"/>
                </a:solidFill>
                <a:latin typeface="Apple SD Gothic Neo"/>
              </a:rPr>
              <a:t>시뮬레이터 → 실기기 순서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91440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111111"/>
                </a:solidFill>
                <a:latin typeface="Apple SD Gothic Ne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8745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5F7"/>
                </a:solidFill>
                <a:latin typeface="Apple SD Gothic Neo"/>
              </a:rPr>
              <a:t>Xcode 프로젝트 열림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874520"/>
            <a:ext cx="6858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npx cap open ios 실행 후 자동으로 Xcode 시작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111111"/>
                </a:solidFill>
                <a:latin typeface="Apple SD Gothic Ne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6517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5F7"/>
                </a:solidFill>
                <a:latin typeface="Apple SD Gothic Neo"/>
              </a:rPr>
              <a:t>Signing &amp; Capabilities 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651760"/>
            <a:ext cx="6858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Team을 본인 Apple ID로 설정</a:t>
            </a:r>
          </a:p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(무료 계정도 7일 한정으로 실기기 설치 가능)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520440"/>
            <a:ext cx="502920" cy="50292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111111"/>
                </a:solidFill>
                <a:latin typeface="Apple SD Gothic Ne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4290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5F7"/>
                </a:solidFill>
                <a:latin typeface="Apple SD Gothic Neo"/>
              </a:rPr>
              <a:t>Bundle Identifier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429000"/>
            <a:ext cx="6858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re.kims.labplace</a:t>
            </a:r>
          </a:p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(Apple Developer 계정에서 App ID 등록 필요)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297680"/>
            <a:ext cx="502920" cy="50292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111111"/>
                </a:solidFill>
                <a:latin typeface="Apple SD Gothic Ne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2062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5F7"/>
                </a:solidFill>
                <a:latin typeface="Apple SD Gothic Neo"/>
              </a:rPr>
              <a:t>Info.plist 수정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4206240"/>
            <a:ext cx="6858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Status bar, 지원 방향, 앱 이름 표시 설정</a:t>
            </a:r>
          </a:p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설명이 필요한 권한은 NS...UsageDescription 추가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111111"/>
                </a:solidFill>
                <a:latin typeface="Apple SD Gothic Ne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9834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5F7"/>
                </a:solidFill>
                <a:latin typeface="Apple SD Gothic Neo"/>
              </a:rPr>
              <a:t>시뮬레이터 실행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4983480"/>
            <a:ext cx="6858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상단 기기 선택 → iPhone 15 Pro → ▶ Run</a:t>
            </a:r>
          </a:p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첫 빌드는 2~5분 소요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5852160"/>
            <a:ext cx="502920" cy="50292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111111"/>
                </a:solidFill>
                <a:latin typeface="Apple SD Gothic Ne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7607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5F7"/>
                </a:solidFill>
                <a:latin typeface="Apple SD Gothic Neo"/>
              </a:rPr>
              <a:t>실기기 실행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5760720"/>
            <a:ext cx="6858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iPhone USB 연결 → 기기 선택 → ▶</a:t>
            </a:r>
          </a:p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설정 → 일반 → 기기관리에서 개발자 신뢰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Lab Placement m1 · 모바일 테스트 &amp; App Store 배포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731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A0A0A8"/>
                </a:solidFill>
                <a:latin typeface="Apple SD Gothic Neo"/>
              </a:rPr>
              <a:t>PART 4  ·  18/22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F5F7"/>
                </a:solidFill>
                <a:latin typeface="Apple SD Gothic Neo"/>
              </a:rPr>
              <a:t>Apple Developer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EC9B0"/>
                </a:solidFill>
                <a:latin typeface="Apple SD Gothic Neo"/>
              </a:rPr>
              <a:t>연 $99 · 가입 없이는 App Store 배포 불가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91440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3749039" cy="3657600"/>
          </a:xfrm>
          <a:prstGeom prst="roundRect">
            <a:avLst>
              <a:gd name="adj" fmla="val 12000"/>
            </a:avLst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5F7"/>
                </a:solidFill>
                <a:latin typeface="Apple SD Gothic Neo"/>
              </a:rPr>
              <a:t>무료 Apple 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42316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1100" b="1">
                <a:solidFill>
                  <a:srgbClr val="F5F5F7"/>
                </a:solidFill>
                <a:latin typeface="Apple SD Gothic Neo"/>
              </a:rPr>
              <a:t>$0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33832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• 시뮬레이터 빌드 ✓</a:t>
            </a:r>
          </a:p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• 실기기 7일 임시 설치 ✓</a:t>
            </a:r>
          </a:p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• App Store 배포 ✗</a:t>
            </a:r>
          </a:p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• TestFlight 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828800"/>
            <a:ext cx="3749039" cy="3657600"/>
          </a:xfrm>
          <a:prstGeom prst="roundRect">
            <a:avLst>
              <a:gd name="adj" fmla="val 12000"/>
            </a:avLst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9659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5F7"/>
                </a:solidFill>
                <a:latin typeface="Apple SD Gothic Neo"/>
              </a:rPr>
              <a:t>Developer Program 개인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242316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1100" b="1">
                <a:solidFill>
                  <a:srgbClr val="111111"/>
                </a:solidFill>
                <a:latin typeface="Apple SD Gothic Neo"/>
              </a:rPr>
              <a:t>$99/년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926080"/>
            <a:ext cx="33832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• 실기기 영구 설치 ✓</a:t>
            </a:r>
          </a:p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• App Store 배포 ✓</a:t>
            </a:r>
          </a:p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• TestFlight (최대 10,000명) ✓</a:t>
            </a:r>
          </a:p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• 푸시/인앱결제 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828800"/>
            <a:ext cx="3749039" cy="3657600"/>
          </a:xfrm>
          <a:prstGeom prst="roundRect">
            <a:avLst>
              <a:gd name="adj" fmla="val 12000"/>
            </a:avLst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19659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5F7"/>
                </a:solidFill>
                <a:latin typeface="Apple SD Gothic Neo"/>
              </a:rPr>
              <a:t>Developer Program 조직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242316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1100" b="1">
                <a:solidFill>
                  <a:srgbClr val="F5F5F7"/>
                </a:solidFill>
                <a:latin typeface="Apple SD Gothic Neo"/>
              </a:rPr>
              <a:t>$99/년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926080"/>
            <a:ext cx="33832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• 위의 모든 혜택 +</a:t>
            </a:r>
          </a:p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• 팀 멤버 권한 관리</a:t>
            </a:r>
          </a:p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• D-U-N-S 번호 필요</a:t>
            </a:r>
          </a:p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• 법인 등록증 필요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EC9B0"/>
                </a:solidFill>
                <a:latin typeface="Apple SD Gothic Neo"/>
              </a:rPr>
              <a:t>가입 절차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6080760"/>
            <a:ext cx="11155680" cy="548640"/>
          </a:xfrm>
          <a:prstGeom prst="roundRect">
            <a:avLst>
              <a:gd name="adj" fmla="val 12000"/>
            </a:avLst>
          </a:prstGeom>
          <a:solidFill>
            <a:srgbClr val="101014"/>
          </a:solidFill>
          <a:ln w="12700">
            <a:solidFill>
              <a:srgbClr val="3A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80000" bIns="80000"/>
          <a:lstStyle/>
          <a:p>
            <a:pPr algn="ctr"/>
            <a:r>
              <a:rPr sz="1000">
                <a:solidFill>
                  <a:srgbClr val="A0A0A8"/>
                </a:solidFill>
                <a:latin typeface="Menlo"/>
              </a:rPr>
              <a:t># https://developer.apple.com/programs/enroll/ → 로그인 → 개인/법인 선택 → 결제 → 24~48시간 승인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Lab Placement m1 · 모바일 테스트 &amp; App Store 배포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731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A0A0A8"/>
                </a:solidFill>
                <a:latin typeface="Apple SD Gothic Neo"/>
              </a:rPr>
              <a:t>PART 4  ·  19/22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F5F7"/>
                </a:solidFill>
                <a:latin typeface="Apple SD Gothic Neo"/>
              </a:rPr>
              <a:t>TestFlight로 베타 배포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EC9B0"/>
                </a:solidFill>
                <a:latin typeface="Apple SD Gothic Neo"/>
              </a:rPr>
              <a:t>심사 전 내부/외부 테스터에게 배포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91440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1874520"/>
            <a:ext cx="411480" cy="411480"/>
          </a:xfrm>
          <a:prstGeom prst="ellipse">
            <a:avLst/>
          </a:prstGeom>
          <a:solidFill>
            <a:srgbClr val="26262A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0195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Apple SD Gothic Neo"/>
              </a:rPr>
              <a:t>1. Xcode → Product → Archive (빌드 아카이브 생성)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377440"/>
            <a:ext cx="411480" cy="411480"/>
          </a:xfrm>
          <a:prstGeom prst="ellipse">
            <a:avLst/>
          </a:prstGeom>
          <a:solidFill>
            <a:srgbClr val="26262A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40487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Apple SD Gothic Neo"/>
              </a:rPr>
              <a:t>2. Organizer 창이 열림 → Distribute App → App Store Connect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880360"/>
            <a:ext cx="411480" cy="411480"/>
          </a:xfrm>
          <a:prstGeom prst="ellipse">
            <a:avLst/>
          </a:prstGeom>
          <a:solidFill>
            <a:srgbClr val="26262A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90779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Apple SD Gothic Neo"/>
              </a:rPr>
              <a:t>3. Upload 선택 → 인증서/프로파일 자동 관리 ✓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383280"/>
            <a:ext cx="411480" cy="411480"/>
          </a:xfrm>
          <a:prstGeom prst="ellipse">
            <a:avLst/>
          </a:prstGeom>
          <a:solidFill>
            <a:srgbClr val="26262A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4107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Apple SD Gothic Neo"/>
              </a:rPr>
              <a:t>4. 업로드 완료 (5~15분) → App Store Connect에서 처리 대기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886200"/>
            <a:ext cx="411480" cy="411480"/>
          </a:xfrm>
          <a:prstGeom prst="ellipse">
            <a:avLst/>
          </a:prstGeom>
          <a:solidFill>
            <a:srgbClr val="26262A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91363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Apple SD Gothic Neo"/>
              </a:rPr>
              <a:t>5. appstoreconnect.apple.com → 앱 선택 → TestFlight 탭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389120"/>
            <a:ext cx="411480" cy="411480"/>
          </a:xfrm>
          <a:prstGeom prst="ellipse">
            <a:avLst/>
          </a:prstGeom>
          <a:solidFill>
            <a:srgbClr val="26262A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41655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Apple SD Gothic Neo"/>
              </a:rPr>
              <a:t>6. "내부 테스트 그룹" 생성 → 본인 계정 추가 → 빌드 활성화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892040"/>
            <a:ext cx="411480" cy="411480"/>
          </a:xfrm>
          <a:prstGeom prst="ellipse">
            <a:avLst/>
          </a:prstGeom>
          <a:solidFill>
            <a:srgbClr val="26262A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91947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Apple SD Gothic Neo"/>
              </a:rPr>
              <a:t>7. iPhone에 TestFlight 앱 설치 → 초대 수락 → 앱 설치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5394960"/>
            <a:ext cx="411480" cy="411480"/>
          </a:xfrm>
          <a:prstGeom prst="ellipse">
            <a:avLst/>
          </a:prstGeom>
          <a:solidFill>
            <a:srgbClr val="26262A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42239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Apple SD Gothic Neo"/>
              </a:rPr>
              <a:t>8. 외부 테스터는 심사(1~2일) 필요. 내부 테스터는 즉시 설치 가능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943600"/>
            <a:ext cx="11155680" cy="731520"/>
          </a:xfrm>
          <a:prstGeom prst="roundRect">
            <a:avLst>
              <a:gd name="adj" fmla="val 12000"/>
            </a:avLst>
          </a:prstGeom>
          <a:solidFill>
            <a:srgbClr val="1A2A2E"/>
          </a:solidFill>
          <a:ln w="127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08076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💡 TestFlight 빌드는 최대 90일 유효. 만료 전 새 빌드 업로드 필요.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Lab Placement m1 · 모바일 테스트 &amp; App Store 배포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731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A0A0A8"/>
                </a:solidFill>
                <a:latin typeface="Apple SD Gothic Neo"/>
              </a:rPr>
              <a:t>PART 4  ·  20/22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F5F7"/>
                </a:solidFill>
                <a:latin typeface="Apple SD Gothic Neo"/>
              </a:rPr>
              <a:t>App Store 심사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EC9B0"/>
                </a:solidFill>
                <a:latin typeface="Apple SD Gothic Neo"/>
              </a:rPr>
              <a:t>최종 배포까지 남은 단계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91440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EC9B0"/>
                </a:solidFill>
                <a:latin typeface="Apple SD Gothic Neo"/>
              </a:rPr>
              <a:t>📋 제출 전 필수 준비물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□ 앱 아이콘 1024×1024 PNG (알파 없음)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2860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□ 스크린샷: 6.7"(iPhone 15 Pro Max) 최소 3장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974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□ 스크린샷: 6.5" · 5.5" 호환 기기별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6974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□ 앱 이름 (30자 이내)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089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□ 부제 (30자 이내)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1089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□ 설명 (4000자 이내)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20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□ 키워드 (100자 이내, 쉼표 구분)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520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□ 지원 URL / 마케팅 URL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□ 프라이버시 정책 URL (웹에 호스팅)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931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□ 카테고리 (1차/2차)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43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□ 연령 등급 설문 응답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343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7"/>
                </a:solidFill>
                <a:latin typeface="Apple SD Gothic Neo"/>
              </a:rPr>
              <a:t>□ 데이터 수집 내역 (Privacy Nutrition Label)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EC9B0"/>
                </a:solidFill>
                <a:latin typeface="Apple SD Gothic Neo"/>
              </a:rPr>
              <a:t>🚀 제출 절차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2860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EC9B0"/>
                </a:solidFill>
                <a:latin typeface="Apple SD Gothic Neo"/>
              </a:rPr>
              <a:t>1.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2860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App Store Connect → 내 앱 → "+ 신규"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6700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EC9B0"/>
                </a:solidFill>
                <a:latin typeface="Apple SD Gothic Neo"/>
              </a:rPr>
              <a:t>2.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670048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플랫폼 iOS · 이름 · Bundle ID 입력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05409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EC9B0"/>
                </a:solidFill>
                <a:latin typeface="Apple SD Gothic Neo"/>
              </a:rPr>
              <a:t>3.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054096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앱 정보 입력 (위 준비물 모두)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4381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EC9B0"/>
                </a:solidFill>
                <a:latin typeface="Apple SD Gothic Neo"/>
              </a:rPr>
              <a:t>4.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438144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스크린샷 업로드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822191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EC9B0"/>
                </a:solidFill>
                <a:latin typeface="Apple SD Gothic Neo"/>
              </a:rPr>
              <a:t>5.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822191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TestFlight에서 사용할 빌드 선택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2062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EC9B0"/>
                </a:solidFill>
                <a:latin typeface="Apple SD Gothic Neo"/>
              </a:rPr>
              <a:t>6.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2062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앱 심사 노트에 테스트 계정 정보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5902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EC9B0"/>
                </a:solidFill>
                <a:latin typeface="Apple SD Gothic Neo"/>
              </a:rPr>
              <a:t>7.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4590288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"심사를 위해 제출" 클릭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97433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EC9B0"/>
                </a:solidFill>
                <a:latin typeface="Apple SD Gothic Neo"/>
              </a:rPr>
              <a:t>8.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974336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심사 대기 (평균 24~48시간)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358383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EC9B0"/>
                </a:solidFill>
                <a:latin typeface="Apple SD Gothic Neo"/>
              </a:rPr>
              <a:t>9.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5358383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승인 후 "수동 출시" 또는 "즉시 출시"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742431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EC9B0"/>
                </a:solidFill>
                <a:latin typeface="Apple SD Gothic Neo"/>
              </a:rPr>
              <a:t>10.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742431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🎉 App Store에 공개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Lab Placement m1 · 모바일 테스트 &amp; App Store 배포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731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A0A0A8"/>
                </a:solidFill>
                <a:latin typeface="Apple SD Gothic Neo"/>
              </a:rPr>
              <a:t>PART 5  ·  21/22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F5F7"/>
                </a:solidFill>
                <a:latin typeface="Apple SD Gothic Neo"/>
              </a:rPr>
              <a:t>배포 전 체크리스트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EC9B0"/>
                </a:solidFill>
                <a:latin typeface="Apple SD Gothic Neo"/>
              </a:rPr>
              <a:t>꼭 확인할 것들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91440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3749039" cy="4754880"/>
          </a:xfrm>
          <a:prstGeom prst="roundRect">
            <a:avLst>
              <a:gd name="adj" fmla="val 12000"/>
            </a:avLst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4EC9B0"/>
                </a:solidFill>
                <a:latin typeface="Apple SD Gothic Neo"/>
              </a:rPr>
              <a:t>✅ 코드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587752"/>
            <a:ext cx="228600" cy="228600"/>
          </a:xfrm>
          <a:prstGeom prst="rect">
            <a:avLst/>
          </a:prstGeom>
          <a:solidFill>
            <a:srgbClr val="1A1A1C"/>
          </a:solidFill>
          <a:ln w="127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514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viewport meta 설정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044952"/>
            <a:ext cx="228600" cy="228600"/>
          </a:xfrm>
          <a:prstGeom prst="rect">
            <a:avLst/>
          </a:prstGeom>
          <a:solidFill>
            <a:srgbClr val="1A1A1C"/>
          </a:solidFill>
          <a:ln w="127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971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font-size 16px 이상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502152"/>
            <a:ext cx="228600" cy="228600"/>
          </a:xfrm>
          <a:prstGeom prst="rect">
            <a:avLst/>
          </a:prstGeom>
          <a:solidFill>
            <a:srgbClr val="1A1A1C"/>
          </a:solidFill>
          <a:ln w="127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4290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터치 영역 44px 이상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959352"/>
            <a:ext cx="228600" cy="228600"/>
          </a:xfrm>
          <a:prstGeom prst="rect">
            <a:avLst/>
          </a:prstGeom>
          <a:solidFill>
            <a:srgbClr val="1A1A1C"/>
          </a:solidFill>
          <a:ln w="127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886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touch-action: none 캔버스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416552"/>
            <a:ext cx="228600" cy="228600"/>
          </a:xfrm>
          <a:prstGeom prst="rect">
            <a:avLst/>
          </a:prstGeom>
          <a:solidFill>
            <a:srgbClr val="1A1A1C"/>
          </a:solidFill>
          <a:ln w="127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3434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safe-area-inset 적용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873752"/>
            <a:ext cx="228600" cy="228600"/>
          </a:xfrm>
          <a:prstGeom prst="rect">
            <a:avLst/>
          </a:prstGeom>
          <a:solidFill>
            <a:srgbClr val="1A1A1C"/>
          </a:solidFill>
          <a:ln w="127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800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Service Worker 등록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5330952"/>
            <a:ext cx="228600" cy="228600"/>
          </a:xfrm>
          <a:prstGeom prst="rect">
            <a:avLst/>
          </a:prstGeom>
          <a:solidFill>
            <a:srgbClr val="1A1A1C"/>
          </a:solidFill>
          <a:ln w="127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257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manifest.json 연결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788152"/>
            <a:ext cx="228600" cy="228600"/>
          </a:xfrm>
          <a:prstGeom prst="rect">
            <a:avLst/>
          </a:prstGeom>
          <a:solidFill>
            <a:srgbClr val="1A1A1C"/>
          </a:solidFill>
          <a:ln w="127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7150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가로/세로 회전 대응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1828800"/>
            <a:ext cx="3749039" cy="4754880"/>
          </a:xfrm>
          <a:prstGeom prst="roundRect">
            <a:avLst>
              <a:gd name="adj" fmla="val 12000"/>
            </a:avLst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19659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4EC9B0"/>
                </a:solidFill>
                <a:latin typeface="Apple SD Gothic Neo"/>
              </a:rPr>
              <a:t>🧪 테스트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2587752"/>
            <a:ext cx="228600" cy="228600"/>
          </a:xfrm>
          <a:prstGeom prst="rect">
            <a:avLst/>
          </a:prstGeom>
          <a:solidFill>
            <a:srgbClr val="1A1A1C"/>
          </a:solidFill>
          <a:ln w="127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83480" y="2514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시뮬레이터 iPhone SE/Pro Max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3044952"/>
            <a:ext cx="228600" cy="228600"/>
          </a:xfrm>
          <a:prstGeom prst="rect">
            <a:avLst/>
          </a:prstGeom>
          <a:solidFill>
            <a:srgbClr val="1A1A1C"/>
          </a:solidFill>
          <a:ln w="127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83480" y="2971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실기기 터치 반응 확인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3502152"/>
            <a:ext cx="228600" cy="228600"/>
          </a:xfrm>
          <a:prstGeom prst="rect">
            <a:avLst/>
          </a:prstGeom>
          <a:solidFill>
            <a:srgbClr val="1A1A1C"/>
          </a:solidFill>
          <a:ln w="127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83480" y="34290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3D 드래그 vs OrbitControls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40" y="3959352"/>
            <a:ext cx="228600" cy="228600"/>
          </a:xfrm>
          <a:prstGeom prst="rect">
            <a:avLst/>
          </a:prstGeom>
          <a:solidFill>
            <a:srgbClr val="1A1A1C"/>
          </a:solidFill>
          <a:ln w="127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83480" y="3886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뒤로가기 버튼 동작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4416552"/>
            <a:ext cx="228600" cy="228600"/>
          </a:xfrm>
          <a:prstGeom prst="rect">
            <a:avLst/>
          </a:prstGeom>
          <a:solidFill>
            <a:srgbClr val="1A1A1C"/>
          </a:solidFill>
          <a:ln w="127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83480" y="43434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되돌리기 20단계 확인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4873752"/>
            <a:ext cx="228600" cy="228600"/>
          </a:xfrm>
          <a:prstGeom prst="rect">
            <a:avLst/>
          </a:prstGeom>
          <a:solidFill>
            <a:srgbClr val="1A1A1C"/>
          </a:solidFill>
          <a:ln w="127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83480" y="4800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JSON 저장/불러오기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63440" y="5330952"/>
            <a:ext cx="228600" cy="228600"/>
          </a:xfrm>
          <a:prstGeom prst="rect">
            <a:avLst/>
          </a:prstGeom>
          <a:solidFill>
            <a:srgbClr val="1A1A1C"/>
          </a:solidFill>
          <a:ln w="127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83480" y="5257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스크린샷 저장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63440" y="5788152"/>
            <a:ext cx="228600" cy="228600"/>
          </a:xfrm>
          <a:prstGeom prst="rect">
            <a:avLst/>
          </a:prstGeom>
          <a:solidFill>
            <a:srgbClr val="1A1A1C"/>
          </a:solidFill>
          <a:ln w="127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83480" y="57150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PWA 오프라인 동작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21040" y="1828800"/>
            <a:ext cx="3749039" cy="4754880"/>
          </a:xfrm>
          <a:prstGeom prst="roundRect">
            <a:avLst>
              <a:gd name="adj" fmla="val 12000"/>
            </a:avLst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49640" y="19659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4EC9B0"/>
                </a:solidFill>
                <a:latin typeface="Apple SD Gothic Neo"/>
              </a:rPr>
              <a:t>📱 배포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49640" y="2587752"/>
            <a:ext cx="228600" cy="228600"/>
          </a:xfrm>
          <a:prstGeom prst="rect">
            <a:avLst/>
          </a:prstGeom>
          <a:solidFill>
            <a:srgbClr val="1A1A1C"/>
          </a:solidFill>
          <a:ln w="127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69680" y="2514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Bundle ID 유일성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49640" y="3044952"/>
            <a:ext cx="228600" cy="228600"/>
          </a:xfrm>
          <a:prstGeom prst="rect">
            <a:avLst/>
          </a:prstGeom>
          <a:solidFill>
            <a:srgbClr val="1A1A1C"/>
          </a:solidFill>
          <a:ln w="127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69680" y="2971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아이콘 1024×1024 준비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49640" y="3502152"/>
            <a:ext cx="228600" cy="228600"/>
          </a:xfrm>
          <a:prstGeom prst="rect">
            <a:avLst/>
          </a:prstGeom>
          <a:solidFill>
            <a:srgbClr val="1A1A1C"/>
          </a:solidFill>
          <a:ln w="127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69680" y="34290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스크린샷 모든 사이즈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49640" y="3959352"/>
            <a:ext cx="228600" cy="228600"/>
          </a:xfrm>
          <a:prstGeom prst="rect">
            <a:avLst/>
          </a:prstGeom>
          <a:solidFill>
            <a:srgbClr val="1A1A1C"/>
          </a:solidFill>
          <a:ln w="127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69680" y="3886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프라이버시 정책 URL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49640" y="4416552"/>
            <a:ext cx="228600" cy="228600"/>
          </a:xfrm>
          <a:prstGeom prst="rect">
            <a:avLst/>
          </a:prstGeom>
          <a:solidFill>
            <a:srgbClr val="1A1A1C"/>
          </a:solidFill>
          <a:ln w="127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69680" y="43434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앱 설명 (한/영)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549640" y="4873752"/>
            <a:ext cx="228600" cy="228600"/>
          </a:xfrm>
          <a:prstGeom prst="rect">
            <a:avLst/>
          </a:prstGeom>
          <a:solidFill>
            <a:srgbClr val="1A1A1C"/>
          </a:solidFill>
          <a:ln w="127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869680" y="4800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테스트 계정 정보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49640" y="5330952"/>
            <a:ext cx="228600" cy="228600"/>
          </a:xfrm>
          <a:prstGeom prst="rect">
            <a:avLst/>
          </a:prstGeom>
          <a:solidFill>
            <a:srgbClr val="1A1A1C"/>
          </a:solidFill>
          <a:ln w="127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869680" y="5257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심사 가이드라인 검토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49640" y="5788152"/>
            <a:ext cx="228600" cy="228600"/>
          </a:xfrm>
          <a:prstGeom prst="rect">
            <a:avLst/>
          </a:prstGeom>
          <a:solidFill>
            <a:srgbClr val="1A1A1C"/>
          </a:solidFill>
          <a:ln w="127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869680" y="57150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7"/>
                </a:solidFill>
                <a:latin typeface="Apple SD Gothic Neo"/>
              </a:rPr>
              <a:t>TestFlight 내부 테스트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6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Lab Placement m1 · 모바일 테스트 &amp; App Store 배포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731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A0A0A8"/>
                </a:solidFill>
                <a:latin typeface="Apple SD Gothic Neo"/>
              </a:rPr>
              <a:t>PART 5  ·  22/22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F5F7"/>
                </a:solidFill>
                <a:latin typeface="Apple SD Gothic Neo"/>
              </a:rPr>
              <a:t>자주 겪는 이슈 &amp; 해결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EC9B0"/>
                </a:solidFill>
                <a:latin typeface="Apple SD Gothic Neo"/>
              </a:rPr>
              <a:t>Troubleshooting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91440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6B4A"/>
                </a:solidFill>
                <a:latin typeface="Apple SD Gothic Neo"/>
              </a:rPr>
              <a:t>🔴 3D 터치 드래그가 카메라 회전과 충돌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39112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→ pointerdown에서 raycaster로 객체 체크 → 히트 시 orbit.enabled = false. m1.html에 이미 구현됨.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5915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6B4A"/>
                </a:solidFill>
                <a:latin typeface="Apple SD Gothic Neo"/>
              </a:rPr>
              <a:t>🔴 iPhone 입력 시 화면이 줌됨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15184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→ &lt;meta name="viewport" ...maximum-scale=1, user-scalable=no&gt;. input 폰트 16px 이상.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35224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6B4A"/>
                </a:solidFill>
                <a:latin typeface="Apple SD Gothic Neo"/>
              </a:rPr>
              <a:t>🔴 노치 영역에 UI 가려짐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191256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→ viewport-fit=cover + padding에 env(safe-area-inset-top/bottom) 사용. 이미 적용됨.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112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6B4A"/>
                </a:solidFill>
                <a:latin typeface="Apple SD Gothic Neo"/>
              </a:rPr>
              <a:t>🔴 Service Worker가 캐시한 구버전이 계속 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6732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→ sw.js의 CACHE 이름을 "labplace-m1-v2" 처럼 버전 올리고 재배포.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8736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6B4A"/>
                </a:solidFill>
                <a:latin typeface="Apple SD Gothic Neo"/>
              </a:rPr>
              <a:t>🔴 Xcode 빌드 실패: "No such module Capacitor"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434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→ cd ios/App &amp;&amp; pod install 실행. 그 후 .xcworkspace 파일로 열기 (.xcodeproj 아님).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63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6B4A"/>
                </a:solidFill>
                <a:latin typeface="Apple SD Gothic Neo"/>
              </a:rPr>
              <a:t>🔴 App Store 심사 거절 - "웹뷰만 있는 앱"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19472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→ 가이드라인 4.2: 오프라인 기능, 네이티브 통합(저장소/공유 등), 고유 가치를 명시. 실제로 동작.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3951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6B4A"/>
                </a:solidFill>
                <a:latin typeface="Apple SD Gothic Neo"/>
              </a:rPr>
              <a:t>🔴 TestFlight 빌드 90일 만료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95544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→ 새 빌드 재업로드. 빌드 번호만 올리면 됨. 버전은 유지 가능.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15584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6B4A"/>
                </a:solidFill>
                <a:latin typeface="Apple SD Gothic Neo"/>
              </a:rPr>
              <a:t>🔴 Three.js 로딩 실패 (오프라인)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071616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Apple SD Gothic Neo"/>
              </a:rPr>
              <a:t>→ sw.js에서 unpkg.com을 캐시에 포함. 또는 번들러로 로컬 인라인.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